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37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E276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rgbClr val="791F2B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B6B6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Face</a:t>
            </a:r>
            <a:r>
              <a:rPr spc="-5" dirty="0"/>
              <a:t> </a:t>
            </a:r>
            <a:r>
              <a:rPr spc="-10" dirty="0"/>
              <a:t>Recognition</a:t>
            </a:r>
            <a:r>
              <a:rPr spc="-25" dirty="0"/>
              <a:t> </a:t>
            </a:r>
            <a:r>
              <a:rPr dirty="0"/>
              <a:t>Using</a:t>
            </a:r>
            <a:r>
              <a:rPr spc="15" dirty="0"/>
              <a:t> </a:t>
            </a:r>
            <a:r>
              <a:rPr spc="-10" dirty="0"/>
              <a:t>Python</a:t>
            </a:r>
            <a:r>
              <a:rPr spc="10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10" dirty="0"/>
              <a:t>OpenCV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B6B6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E276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rgbClr val="791F2B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B6B6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Face</a:t>
            </a:r>
            <a:r>
              <a:rPr spc="-5" dirty="0"/>
              <a:t> </a:t>
            </a:r>
            <a:r>
              <a:rPr spc="-10" dirty="0"/>
              <a:t>Recognition</a:t>
            </a:r>
            <a:r>
              <a:rPr spc="-25" dirty="0"/>
              <a:t> </a:t>
            </a:r>
            <a:r>
              <a:rPr dirty="0"/>
              <a:t>Using</a:t>
            </a:r>
            <a:r>
              <a:rPr spc="15" dirty="0"/>
              <a:t> </a:t>
            </a:r>
            <a:r>
              <a:rPr spc="-10" dirty="0"/>
              <a:t>Python</a:t>
            </a:r>
            <a:r>
              <a:rPr spc="10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10" dirty="0"/>
              <a:t>OpenCV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B6B6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E276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B6B6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Face</a:t>
            </a:r>
            <a:r>
              <a:rPr spc="-5" dirty="0"/>
              <a:t> </a:t>
            </a:r>
            <a:r>
              <a:rPr spc="-10" dirty="0"/>
              <a:t>Recognition</a:t>
            </a:r>
            <a:r>
              <a:rPr spc="-25" dirty="0"/>
              <a:t> </a:t>
            </a:r>
            <a:r>
              <a:rPr dirty="0"/>
              <a:t>Using</a:t>
            </a:r>
            <a:r>
              <a:rPr spc="15" dirty="0"/>
              <a:t> </a:t>
            </a:r>
            <a:r>
              <a:rPr spc="-10" dirty="0"/>
              <a:t>Python</a:t>
            </a:r>
            <a:r>
              <a:rPr spc="10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10" dirty="0"/>
              <a:t>OpenCV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B6B6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E276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B6B6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Face</a:t>
            </a:r>
            <a:r>
              <a:rPr spc="-5" dirty="0"/>
              <a:t> </a:t>
            </a:r>
            <a:r>
              <a:rPr spc="-10" dirty="0"/>
              <a:t>Recognition</a:t>
            </a:r>
            <a:r>
              <a:rPr spc="-25" dirty="0"/>
              <a:t> </a:t>
            </a:r>
            <a:r>
              <a:rPr dirty="0"/>
              <a:t>Using</a:t>
            </a:r>
            <a:r>
              <a:rPr spc="15" dirty="0"/>
              <a:t> </a:t>
            </a:r>
            <a:r>
              <a:rPr spc="-10" dirty="0"/>
              <a:t>Python</a:t>
            </a:r>
            <a:r>
              <a:rPr spc="10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10" dirty="0"/>
              <a:t>OpenCV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B6B6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B6B6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Face</a:t>
            </a:r>
            <a:r>
              <a:rPr spc="-5" dirty="0"/>
              <a:t> </a:t>
            </a:r>
            <a:r>
              <a:rPr spc="-10" dirty="0"/>
              <a:t>Recognition</a:t>
            </a:r>
            <a:r>
              <a:rPr spc="-25" dirty="0"/>
              <a:t> </a:t>
            </a:r>
            <a:r>
              <a:rPr dirty="0"/>
              <a:t>Using</a:t>
            </a:r>
            <a:r>
              <a:rPr spc="15" dirty="0"/>
              <a:t> </a:t>
            </a:r>
            <a:r>
              <a:rPr spc="-10" dirty="0"/>
              <a:t>Python</a:t>
            </a:r>
            <a:r>
              <a:rPr spc="10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10" dirty="0"/>
              <a:t>OpenCV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B6B6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6244" y="482930"/>
            <a:ext cx="4346575" cy="454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E276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7684" y="1450086"/>
            <a:ext cx="10862945" cy="3630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rgbClr val="791F2B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36244" y="6553834"/>
            <a:ext cx="2054860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6B6B6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Face</a:t>
            </a:r>
            <a:r>
              <a:rPr spc="-5" dirty="0"/>
              <a:t> </a:t>
            </a:r>
            <a:r>
              <a:rPr spc="-10" dirty="0"/>
              <a:t>Recognition</a:t>
            </a:r>
            <a:r>
              <a:rPr spc="-25" dirty="0"/>
              <a:t> </a:t>
            </a:r>
            <a:r>
              <a:rPr dirty="0"/>
              <a:t>Using</a:t>
            </a:r>
            <a:r>
              <a:rPr spc="15" dirty="0"/>
              <a:t> </a:t>
            </a:r>
            <a:r>
              <a:rPr spc="-10" dirty="0"/>
              <a:t>Python</a:t>
            </a:r>
            <a:r>
              <a:rPr spc="10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10" dirty="0"/>
              <a:t>OpenCV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513057" y="6553834"/>
            <a:ext cx="182879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6B6B6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./iilm_logo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91555" y="502919"/>
            <a:ext cx="1005840" cy="100583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972558" y="1454204"/>
            <a:ext cx="2249805" cy="744220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30"/>
              </a:spcBef>
            </a:pPr>
            <a:r>
              <a:rPr sz="2200" dirty="0"/>
              <a:t>IILM</a:t>
            </a:r>
            <a:r>
              <a:rPr sz="2200" spc="-45" dirty="0"/>
              <a:t> </a:t>
            </a:r>
            <a:r>
              <a:rPr sz="2200" spc="-10" dirty="0"/>
              <a:t>UNIVERSITY</a:t>
            </a:r>
            <a:endParaRPr sz="2200"/>
          </a:p>
          <a:p>
            <a:pPr algn="ctr">
              <a:lnSpc>
                <a:spcPct val="100000"/>
              </a:lnSpc>
              <a:spcBef>
                <a:spcPts val="595"/>
              </a:spcBef>
            </a:pPr>
            <a:r>
              <a:rPr sz="1150" b="0" i="1" dirty="0">
                <a:solidFill>
                  <a:srgbClr val="6B6B6B"/>
                </a:solidFill>
                <a:latin typeface="Calibri"/>
                <a:cs typeface="Calibri"/>
              </a:rPr>
              <a:t>Greater</a:t>
            </a:r>
            <a:r>
              <a:rPr sz="1150" b="0" i="1" spc="8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150" b="0" i="1" dirty="0">
                <a:solidFill>
                  <a:srgbClr val="6B6B6B"/>
                </a:solidFill>
                <a:latin typeface="Calibri"/>
                <a:cs typeface="Calibri"/>
              </a:rPr>
              <a:t>Noida,</a:t>
            </a:r>
            <a:r>
              <a:rPr sz="1150" b="0" i="1" spc="14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150" b="0" i="1" dirty="0">
                <a:solidFill>
                  <a:srgbClr val="6B6B6B"/>
                </a:solidFill>
                <a:latin typeface="Calibri"/>
                <a:cs typeface="Calibri"/>
              </a:rPr>
              <a:t>Uttar</a:t>
            </a:r>
            <a:r>
              <a:rPr sz="1150" b="0" i="1" spc="9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150" b="0" i="1" spc="-10" dirty="0">
                <a:solidFill>
                  <a:srgbClr val="6B6B6B"/>
                </a:solidFill>
                <a:latin typeface="Calibri"/>
                <a:cs typeface="Calibri"/>
              </a:rPr>
              <a:t>Pradesh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90921" y="2398014"/>
            <a:ext cx="2011680" cy="0"/>
          </a:xfrm>
          <a:custGeom>
            <a:avLst/>
            <a:gdLst/>
            <a:ahLst/>
            <a:cxnLst/>
            <a:rect l="l" t="t" r="r" b="b"/>
            <a:pathLst>
              <a:path w="2011679">
                <a:moveTo>
                  <a:pt x="0" y="0"/>
                </a:moveTo>
                <a:lnTo>
                  <a:pt x="2011679" y="0"/>
                </a:lnTo>
              </a:path>
            </a:pathLst>
          </a:custGeom>
          <a:ln w="13716">
            <a:solidFill>
              <a:srgbClr val="791F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064378" y="2646629"/>
            <a:ext cx="205930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6B6B6B"/>
                </a:solidFill>
                <a:latin typeface="Calibri"/>
                <a:cs typeface="Calibri"/>
              </a:rPr>
              <a:t>An</a:t>
            </a:r>
            <a:r>
              <a:rPr sz="1300" spc="-1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B6B6B"/>
                </a:solidFill>
                <a:latin typeface="Calibri"/>
                <a:cs typeface="Calibri"/>
              </a:rPr>
              <a:t>Internship</a:t>
            </a:r>
            <a:r>
              <a:rPr sz="1300" spc="2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B6B6B"/>
                </a:solidFill>
                <a:latin typeface="Calibri"/>
                <a:cs typeface="Calibri"/>
              </a:rPr>
              <a:t>Presentation</a:t>
            </a:r>
            <a:r>
              <a:rPr sz="1300" spc="-5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6B6B6B"/>
                </a:solidFill>
                <a:latin typeface="Calibri"/>
                <a:cs typeface="Calibri"/>
              </a:rPr>
              <a:t>On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98447" y="3125800"/>
            <a:ext cx="8597900" cy="481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000" b="1" spc="-65" dirty="0">
                <a:solidFill>
                  <a:srgbClr val="1E2760"/>
                </a:solidFill>
                <a:latin typeface="Cambria"/>
                <a:cs typeface="Cambria"/>
              </a:rPr>
              <a:t>FACE</a:t>
            </a:r>
            <a:r>
              <a:rPr sz="3000" b="1" spc="-95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3000" b="1" spc="-10" dirty="0">
                <a:solidFill>
                  <a:srgbClr val="1E2760"/>
                </a:solidFill>
                <a:latin typeface="Cambria"/>
                <a:cs typeface="Cambria"/>
              </a:rPr>
              <a:t>RECOGNITION</a:t>
            </a:r>
            <a:r>
              <a:rPr sz="3000" b="1" spc="-75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3000" b="1" dirty="0">
                <a:solidFill>
                  <a:srgbClr val="1E2760"/>
                </a:solidFill>
                <a:latin typeface="Cambria"/>
                <a:cs typeface="Cambria"/>
              </a:rPr>
              <a:t>USING</a:t>
            </a:r>
            <a:r>
              <a:rPr sz="3000" b="1" spc="-90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3000" b="1" dirty="0">
                <a:solidFill>
                  <a:srgbClr val="1E2760"/>
                </a:solidFill>
                <a:latin typeface="Cambria"/>
                <a:cs typeface="Cambria"/>
              </a:rPr>
              <a:t>PYTHON</a:t>
            </a:r>
            <a:r>
              <a:rPr sz="3000" b="1" spc="-105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3000" b="1" dirty="0">
                <a:solidFill>
                  <a:srgbClr val="1E2760"/>
                </a:solidFill>
                <a:latin typeface="Cambria"/>
                <a:cs typeface="Cambria"/>
              </a:rPr>
              <a:t>AND</a:t>
            </a:r>
            <a:r>
              <a:rPr sz="3000" b="1" spc="-80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3000" b="1" spc="-10" dirty="0">
                <a:solidFill>
                  <a:srgbClr val="1E2760"/>
                </a:solidFill>
                <a:latin typeface="Cambria"/>
                <a:cs typeface="Cambria"/>
              </a:rPr>
              <a:t>OPENCV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80409" y="4234688"/>
            <a:ext cx="9893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6B6B6B"/>
                </a:solidFill>
                <a:latin typeface="Calibri"/>
                <a:cs typeface="Calibri"/>
              </a:rPr>
              <a:t>Student</a:t>
            </a:r>
            <a:r>
              <a:rPr sz="1300" spc="-6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6B6B6B"/>
                </a:solidFill>
                <a:latin typeface="Calibri"/>
                <a:cs typeface="Calibri"/>
              </a:rPr>
              <a:t>Name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63997" y="4234688"/>
            <a:ext cx="1413003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300" b="1" spc="-25" dirty="0">
                <a:solidFill>
                  <a:srgbClr val="2B2B2B"/>
                </a:solidFill>
                <a:latin typeface="Calibri"/>
                <a:cs typeface="Calibri"/>
              </a:rPr>
              <a:t>Devanshi </a:t>
            </a:r>
            <a:r>
              <a:rPr sz="1300" b="1" spc="-25" dirty="0">
                <a:solidFill>
                  <a:srgbClr val="2B2B2B"/>
                </a:solidFill>
                <a:latin typeface="Calibri"/>
                <a:cs typeface="Calibri"/>
              </a:rPr>
              <a:t>j</a:t>
            </a:r>
            <a:r>
              <a:rPr lang="en-US" sz="1300" b="1" spc="-25" dirty="0">
                <a:solidFill>
                  <a:srgbClr val="2B2B2B"/>
                </a:solidFill>
                <a:latin typeface="Calibri"/>
                <a:cs typeface="Calibri"/>
              </a:rPr>
              <a:t>ain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80409" y="4618990"/>
            <a:ext cx="10401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6B6B6B"/>
                </a:solidFill>
                <a:latin typeface="Calibri"/>
                <a:cs typeface="Calibri"/>
              </a:rPr>
              <a:t>Enrollment</a:t>
            </a:r>
            <a:r>
              <a:rPr sz="1300" spc="-6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6B6B6B"/>
                </a:solidFill>
                <a:latin typeface="Calibri"/>
                <a:cs typeface="Calibri"/>
              </a:rPr>
              <a:t>No.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63997" y="4618990"/>
            <a:ext cx="1256030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300" b="1" dirty="0">
                <a:latin typeface="Calibri"/>
                <a:cs typeface="Calibri"/>
              </a:rPr>
              <a:t>2410030209</a:t>
            </a:r>
            <a:endParaRPr sz="1300" b="1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80409" y="5002733"/>
            <a:ext cx="14173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6B6B6B"/>
                </a:solidFill>
                <a:latin typeface="Calibri"/>
                <a:cs typeface="Calibri"/>
              </a:rPr>
              <a:t>Program</a:t>
            </a:r>
            <a:r>
              <a:rPr sz="1300" spc="-2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B6B6B"/>
                </a:solidFill>
                <a:latin typeface="Calibri"/>
                <a:cs typeface="Calibri"/>
              </a:rPr>
              <a:t>&amp;</a:t>
            </a:r>
            <a:r>
              <a:rPr sz="1300" spc="-10" dirty="0">
                <a:solidFill>
                  <a:srgbClr val="6B6B6B"/>
                </a:solidFill>
                <a:latin typeface="Calibri"/>
                <a:cs typeface="Calibri"/>
              </a:rPr>
              <a:t> Semester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63997" y="5002733"/>
            <a:ext cx="185038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35" dirty="0">
                <a:solidFill>
                  <a:srgbClr val="2B2B2B"/>
                </a:solidFill>
                <a:latin typeface="Calibri"/>
                <a:cs typeface="Calibri"/>
              </a:rPr>
              <a:t>B.Tech</a:t>
            </a:r>
            <a:r>
              <a:rPr sz="1300" b="1" spc="-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B2B2B"/>
                </a:solidFill>
                <a:latin typeface="Calibri"/>
                <a:cs typeface="Calibri"/>
              </a:rPr>
              <a:t>CSE (Batch</a:t>
            </a:r>
            <a:r>
              <a:rPr sz="1300" b="1" spc="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b="1" spc="-25" dirty="0">
                <a:solidFill>
                  <a:srgbClr val="2B2B2B"/>
                </a:solidFill>
                <a:latin typeface="Calibri"/>
                <a:cs typeface="Calibri"/>
              </a:rPr>
              <a:t>2024-28)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80409" y="5387162"/>
            <a:ext cx="87121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6B6B6B"/>
                </a:solidFill>
                <a:latin typeface="Calibri"/>
                <a:cs typeface="Calibri"/>
              </a:rPr>
              <a:t>Organization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63997" y="5387162"/>
            <a:ext cx="195770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2B2B2B"/>
                </a:solidFill>
                <a:latin typeface="Calibri"/>
                <a:cs typeface="Calibri"/>
              </a:rPr>
              <a:t>Codec</a:t>
            </a:r>
            <a:r>
              <a:rPr sz="1300" b="1" spc="-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B2B2B"/>
                </a:solidFill>
                <a:latin typeface="Calibri"/>
                <a:cs typeface="Calibri"/>
              </a:rPr>
              <a:t>Technologies</a:t>
            </a:r>
            <a:r>
              <a:rPr sz="1300" b="1" spc="-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B2B2B"/>
                </a:solidFill>
                <a:latin typeface="Calibri"/>
                <a:cs typeface="Calibri"/>
              </a:rPr>
              <a:t>Pvt.</a:t>
            </a:r>
            <a:r>
              <a:rPr sz="1300" b="1" spc="-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2B2B2B"/>
                </a:solidFill>
                <a:latin typeface="Calibri"/>
                <a:cs typeface="Calibri"/>
              </a:rPr>
              <a:t>Ltd.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Face</a:t>
            </a:r>
            <a:r>
              <a:rPr spc="-5" dirty="0"/>
              <a:t> </a:t>
            </a:r>
            <a:r>
              <a:rPr spc="-10" dirty="0"/>
              <a:t>Recognition</a:t>
            </a:r>
            <a:r>
              <a:rPr spc="-25" dirty="0"/>
              <a:t> </a:t>
            </a:r>
            <a:r>
              <a:rPr dirty="0"/>
              <a:t>Using</a:t>
            </a:r>
            <a:r>
              <a:rPr spc="15" dirty="0"/>
              <a:t> </a:t>
            </a:r>
            <a:r>
              <a:rPr spc="-10" dirty="0"/>
              <a:t>Python</a:t>
            </a:r>
            <a:r>
              <a:rPr spc="10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10" dirty="0"/>
              <a:t>OpenCV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Internship</a:t>
            </a:r>
            <a:r>
              <a:rPr spc="-150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7684" y="1533906"/>
            <a:ext cx="10928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1E2760"/>
                </a:solidFill>
                <a:latin typeface="Cambria"/>
                <a:cs typeface="Cambria"/>
              </a:rPr>
              <a:t>Organization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80409" y="1529334"/>
            <a:ext cx="8093709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Codec </a:t>
            </a:r>
            <a:r>
              <a:rPr sz="1350" spc="-10" dirty="0">
                <a:solidFill>
                  <a:srgbClr val="2B2B2B"/>
                </a:solidFill>
                <a:latin typeface="Calibri"/>
                <a:cs typeface="Calibri"/>
              </a:rPr>
              <a:t>Technologies</a:t>
            </a:r>
            <a:r>
              <a:rPr sz="1350" spc="-1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Pvt.</a:t>
            </a:r>
            <a:r>
              <a:rPr sz="1350" spc="-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Ltd.</a:t>
            </a:r>
            <a:r>
              <a:rPr sz="1350" spc="-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—</a:t>
            </a:r>
            <a:r>
              <a:rPr sz="1350" spc="-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a</a:t>
            </a:r>
            <a:r>
              <a:rPr sz="1350" spc="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Google</a:t>
            </a:r>
            <a:r>
              <a:rPr sz="1350" spc="-7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for</a:t>
            </a:r>
            <a:r>
              <a:rPr sz="1350" spc="-10" dirty="0">
                <a:solidFill>
                  <a:srgbClr val="2B2B2B"/>
                </a:solidFill>
                <a:latin typeface="Calibri"/>
                <a:cs typeface="Calibri"/>
              </a:rPr>
              <a:t> Education</a:t>
            </a:r>
            <a:r>
              <a:rPr sz="1350" spc="-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2B2B2B"/>
                </a:solidFill>
                <a:latin typeface="Calibri"/>
                <a:cs typeface="Calibri"/>
              </a:rPr>
              <a:t>Partner,</a:t>
            </a:r>
            <a:r>
              <a:rPr sz="1350" spc="-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B2B2B"/>
                </a:solidFill>
                <a:latin typeface="Calibri"/>
                <a:cs typeface="Calibri"/>
              </a:rPr>
              <a:t>offering</a:t>
            </a:r>
            <a:r>
              <a:rPr sz="1350" spc="-7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AICTE</a:t>
            </a:r>
            <a:r>
              <a:rPr sz="1350" spc="-6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&amp;</a:t>
            </a:r>
            <a:r>
              <a:rPr sz="1350" spc="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ICAC</a:t>
            </a:r>
            <a:r>
              <a:rPr sz="1350" spc="-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approved</a:t>
            </a:r>
            <a:r>
              <a:rPr sz="1350" spc="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internship</a:t>
            </a:r>
            <a:r>
              <a:rPr sz="1350" spc="-1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B2B2B"/>
                </a:solidFill>
                <a:latin typeface="Calibri"/>
                <a:cs typeface="Calibri"/>
              </a:rPr>
              <a:t>programs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7684" y="2311654"/>
            <a:ext cx="3905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1E2760"/>
                </a:solidFill>
                <a:latin typeface="Cambria"/>
                <a:cs typeface="Cambria"/>
              </a:rPr>
              <a:t>Role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80409" y="2307082"/>
            <a:ext cx="1748155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Python</a:t>
            </a:r>
            <a:r>
              <a:rPr sz="1350" spc="-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Developer</a:t>
            </a:r>
            <a:r>
              <a:rPr sz="1350" spc="-8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B2B2B"/>
                </a:solidFill>
                <a:latin typeface="Calibri"/>
                <a:cs typeface="Calibri"/>
              </a:rPr>
              <a:t>Intern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7684" y="3088970"/>
            <a:ext cx="7550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1E2760"/>
                </a:solidFill>
                <a:latin typeface="Cambria"/>
                <a:cs typeface="Cambria"/>
              </a:rPr>
              <a:t>Duration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80409" y="3084398"/>
            <a:ext cx="2641600" cy="22313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1</a:t>
            </a:r>
            <a:r>
              <a:rPr sz="1350" spc="-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month</a:t>
            </a:r>
            <a:r>
              <a:rPr sz="1350" spc="-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(</a:t>
            </a:r>
            <a:r>
              <a:rPr lang="en-US" sz="1350" dirty="0">
                <a:solidFill>
                  <a:srgbClr val="2B2B2B"/>
                </a:solidFill>
                <a:latin typeface="Calibri"/>
                <a:cs typeface="Calibri"/>
              </a:rPr>
              <a:t>09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/0</a:t>
            </a:r>
            <a:r>
              <a:rPr lang="en-US" sz="1350" dirty="0">
                <a:solidFill>
                  <a:srgbClr val="2B2B2B"/>
                </a:solidFill>
                <a:latin typeface="Calibri"/>
                <a:cs typeface="Calibri"/>
              </a:rPr>
              <a:t>8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/2026</a:t>
            </a:r>
            <a:r>
              <a:rPr sz="1350" spc="-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to</a:t>
            </a:r>
            <a:r>
              <a:rPr sz="1350" spc="-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lang="en-US" sz="1350" spc="-10" dirty="0">
                <a:solidFill>
                  <a:srgbClr val="2B2B2B"/>
                </a:solidFill>
                <a:latin typeface="Calibri"/>
                <a:cs typeface="Calibri"/>
              </a:rPr>
              <a:t>09</a:t>
            </a:r>
            <a:r>
              <a:rPr sz="1350" spc="-10" dirty="0">
                <a:solidFill>
                  <a:srgbClr val="2B2B2B"/>
                </a:solidFill>
                <a:latin typeface="Calibri"/>
                <a:cs typeface="Calibri"/>
              </a:rPr>
              <a:t>/0</a:t>
            </a:r>
            <a:r>
              <a:rPr lang="en-US" sz="1350" spc="-10" dirty="0">
                <a:solidFill>
                  <a:srgbClr val="2B2B2B"/>
                </a:solidFill>
                <a:latin typeface="Calibri"/>
                <a:cs typeface="Calibri"/>
              </a:rPr>
              <a:t>9</a:t>
            </a:r>
            <a:r>
              <a:rPr sz="1350" spc="-10" dirty="0">
                <a:solidFill>
                  <a:srgbClr val="2B2B2B"/>
                </a:solidFill>
                <a:latin typeface="Calibri"/>
                <a:cs typeface="Calibri"/>
              </a:rPr>
              <a:t>/2026)</a:t>
            </a:r>
            <a:endParaRPr sz="135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684" y="3867150"/>
            <a:ext cx="92201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1E2760"/>
                </a:solidFill>
                <a:latin typeface="Cambria"/>
                <a:cs typeface="Cambria"/>
              </a:rPr>
              <a:t>Supervisor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80409" y="3862578"/>
            <a:ext cx="2921000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45" dirty="0">
                <a:solidFill>
                  <a:srgbClr val="2B2B2B"/>
                </a:solidFill>
                <a:latin typeface="Calibri"/>
                <a:cs typeface="Calibri"/>
              </a:rPr>
              <a:t>Dr.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 Anurag</a:t>
            </a:r>
            <a:r>
              <a:rPr sz="1350" spc="-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2B2B2B"/>
                </a:solidFill>
                <a:latin typeface="Calibri"/>
                <a:cs typeface="Calibri"/>
              </a:rPr>
              <a:t>Shrivastava,</a:t>
            </a:r>
            <a:r>
              <a:rPr sz="1350" spc="-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B2B2B"/>
                </a:solidFill>
                <a:latin typeface="Calibri"/>
                <a:cs typeface="Calibri"/>
              </a:rPr>
              <a:t>Program</a:t>
            </a:r>
            <a:r>
              <a:rPr sz="1350" spc="-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B2B2B"/>
                </a:solidFill>
                <a:latin typeface="Calibri"/>
                <a:cs typeface="Calibri"/>
              </a:rPr>
              <a:t>Manager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7684" y="4644897"/>
            <a:ext cx="6680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1E2760"/>
                </a:solidFill>
                <a:latin typeface="Cambria"/>
                <a:cs typeface="Cambria"/>
              </a:rPr>
              <a:t>Domain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80409" y="4640326"/>
            <a:ext cx="2597785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Computer</a:t>
            </a:r>
            <a:r>
              <a:rPr sz="1350" spc="-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Vision</a:t>
            </a:r>
            <a:r>
              <a:rPr sz="1350" spc="-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&amp; Image</a:t>
            </a:r>
            <a:r>
              <a:rPr sz="1350" spc="-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B2B2B"/>
                </a:solidFill>
                <a:latin typeface="Calibri"/>
                <a:cs typeface="Calibri"/>
              </a:rPr>
              <a:t>Processing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Project</a:t>
            </a:r>
            <a:r>
              <a:rPr spc="-85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7684" y="1615948"/>
            <a:ext cx="10818495" cy="130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1450" dirty="0">
                <a:solidFill>
                  <a:srgbClr val="2B2B2B"/>
                </a:solidFill>
                <a:latin typeface="Calibri"/>
                <a:cs typeface="Calibri"/>
              </a:rPr>
              <a:t>A</a:t>
            </a:r>
            <a:r>
              <a:rPr sz="1450" spc="-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50" spc="-20" dirty="0">
                <a:solidFill>
                  <a:srgbClr val="2B2B2B"/>
                </a:solidFill>
                <a:latin typeface="Calibri"/>
                <a:cs typeface="Calibri"/>
              </a:rPr>
              <a:t>computer-vision-</a:t>
            </a:r>
            <a:r>
              <a:rPr sz="1450" dirty="0">
                <a:solidFill>
                  <a:srgbClr val="2B2B2B"/>
                </a:solidFill>
                <a:latin typeface="Calibri"/>
                <a:cs typeface="Calibri"/>
              </a:rPr>
              <a:t>based</a:t>
            </a:r>
            <a:r>
              <a:rPr sz="1450" spc="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B2B2B"/>
                </a:solidFill>
                <a:latin typeface="Calibri"/>
                <a:cs typeface="Calibri"/>
              </a:rPr>
              <a:t>application</a:t>
            </a:r>
            <a:r>
              <a:rPr sz="1450" spc="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B2B2B"/>
                </a:solidFill>
                <a:latin typeface="Calibri"/>
                <a:cs typeface="Calibri"/>
              </a:rPr>
              <a:t>developed</a:t>
            </a:r>
            <a:r>
              <a:rPr sz="1450" spc="-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B2B2B"/>
                </a:solidFill>
                <a:latin typeface="Calibri"/>
                <a:cs typeface="Calibri"/>
              </a:rPr>
              <a:t>to</a:t>
            </a:r>
            <a:r>
              <a:rPr sz="1450" spc="-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B2B2B"/>
                </a:solidFill>
                <a:latin typeface="Calibri"/>
                <a:cs typeface="Calibri"/>
              </a:rPr>
              <a:t>detect</a:t>
            </a:r>
            <a:r>
              <a:rPr sz="1450" spc="-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sz="1450" spc="-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B2B2B"/>
                </a:solidFill>
                <a:latin typeface="Calibri"/>
                <a:cs typeface="Calibri"/>
              </a:rPr>
              <a:t>recognize</a:t>
            </a:r>
            <a:r>
              <a:rPr sz="1450" spc="-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B2B2B"/>
                </a:solidFill>
                <a:latin typeface="Calibri"/>
                <a:cs typeface="Calibri"/>
              </a:rPr>
              <a:t>human</a:t>
            </a:r>
            <a:r>
              <a:rPr sz="1450" spc="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B2B2B"/>
                </a:solidFill>
                <a:latin typeface="Calibri"/>
                <a:cs typeface="Calibri"/>
              </a:rPr>
              <a:t>faces</a:t>
            </a:r>
            <a:r>
              <a:rPr sz="1450" spc="-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B2B2B"/>
                </a:solidFill>
                <a:latin typeface="Calibri"/>
                <a:cs typeface="Calibri"/>
              </a:rPr>
              <a:t>from</a:t>
            </a:r>
            <a:r>
              <a:rPr sz="1450" spc="-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B2B2B"/>
                </a:solidFill>
                <a:latin typeface="Calibri"/>
                <a:cs typeface="Calibri"/>
              </a:rPr>
              <a:t>images,</a:t>
            </a:r>
            <a:r>
              <a:rPr sz="1450" spc="-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B2B2B"/>
                </a:solidFill>
                <a:latin typeface="Calibri"/>
                <a:cs typeface="Calibri"/>
              </a:rPr>
              <a:t>combining</a:t>
            </a:r>
            <a:r>
              <a:rPr sz="1450" spc="-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50" spc="-20" dirty="0">
                <a:solidFill>
                  <a:srgbClr val="2B2B2B"/>
                </a:solidFill>
                <a:latin typeface="Calibri"/>
                <a:cs typeface="Calibri"/>
              </a:rPr>
              <a:t>image-</a:t>
            </a:r>
            <a:r>
              <a:rPr sz="1450" dirty="0">
                <a:solidFill>
                  <a:srgbClr val="2B2B2B"/>
                </a:solidFill>
                <a:latin typeface="Calibri"/>
                <a:cs typeface="Calibri"/>
              </a:rPr>
              <a:t>processing</a:t>
            </a:r>
            <a:r>
              <a:rPr sz="1450" spc="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B2B2B"/>
                </a:solidFill>
                <a:latin typeface="Calibri"/>
                <a:cs typeface="Calibri"/>
              </a:rPr>
              <a:t>techniques </a:t>
            </a:r>
            <a:r>
              <a:rPr sz="1450" spc="-20" dirty="0">
                <a:solidFill>
                  <a:srgbClr val="2B2B2B"/>
                </a:solidFill>
                <a:latin typeface="Calibri"/>
                <a:cs typeface="Calibri"/>
              </a:rPr>
              <a:t>with machine-learning-</a:t>
            </a:r>
            <a:r>
              <a:rPr sz="1450" dirty="0">
                <a:solidFill>
                  <a:srgbClr val="2B2B2B"/>
                </a:solidFill>
                <a:latin typeface="Calibri"/>
                <a:cs typeface="Calibri"/>
              </a:rPr>
              <a:t>based</a:t>
            </a:r>
            <a:r>
              <a:rPr sz="1450" spc="1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B2B2B"/>
                </a:solidFill>
                <a:latin typeface="Calibri"/>
                <a:cs typeface="Calibri"/>
              </a:rPr>
              <a:t>recognition</a:t>
            </a:r>
            <a:r>
              <a:rPr sz="1450" spc="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B2B2B"/>
                </a:solidFill>
                <a:latin typeface="Calibri"/>
                <a:cs typeface="Calibri"/>
              </a:rPr>
              <a:t>to</a:t>
            </a:r>
            <a:r>
              <a:rPr sz="1450" spc="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B2B2B"/>
                </a:solidFill>
                <a:latin typeface="Calibri"/>
                <a:cs typeface="Calibri"/>
              </a:rPr>
              <a:t>build</a:t>
            </a:r>
            <a:r>
              <a:rPr sz="1450" spc="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B2B2B"/>
                </a:solidFill>
                <a:latin typeface="Calibri"/>
                <a:cs typeface="Calibri"/>
              </a:rPr>
              <a:t>an</a:t>
            </a:r>
            <a:r>
              <a:rPr sz="1450" spc="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B2B2B"/>
                </a:solidFill>
                <a:latin typeface="Calibri"/>
                <a:cs typeface="Calibri"/>
              </a:rPr>
              <a:t>automated</a:t>
            </a:r>
            <a:r>
              <a:rPr sz="1450" spc="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B2B2B"/>
                </a:solidFill>
                <a:latin typeface="Calibri"/>
                <a:cs typeface="Calibri"/>
              </a:rPr>
              <a:t>identification</a:t>
            </a:r>
            <a:r>
              <a:rPr sz="1450" spc="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B2B2B"/>
                </a:solidFill>
                <a:latin typeface="Calibri"/>
                <a:cs typeface="Calibri"/>
              </a:rPr>
              <a:t>system.</a:t>
            </a:r>
            <a:endParaRPr sz="14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700" b="1" spc="-10" dirty="0">
                <a:solidFill>
                  <a:srgbClr val="791F2B"/>
                </a:solidFill>
                <a:latin typeface="Cambria"/>
                <a:cs typeface="Cambria"/>
              </a:rPr>
              <a:t>Two</a:t>
            </a:r>
            <a:r>
              <a:rPr sz="1700" b="1" spc="-75" dirty="0">
                <a:solidFill>
                  <a:srgbClr val="791F2B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791F2B"/>
                </a:solidFill>
                <a:latin typeface="Cambria"/>
                <a:cs typeface="Cambria"/>
              </a:rPr>
              <a:t>Core</a:t>
            </a:r>
            <a:r>
              <a:rPr sz="1700" b="1" spc="-80" dirty="0">
                <a:solidFill>
                  <a:srgbClr val="791F2B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791F2B"/>
                </a:solidFill>
                <a:latin typeface="Cambria"/>
                <a:cs typeface="Cambria"/>
              </a:rPr>
              <a:t>Techniques</a:t>
            </a:r>
            <a:endParaRPr sz="17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35508" y="3058667"/>
            <a:ext cx="5088890" cy="2345690"/>
            <a:chOff x="635508" y="3058667"/>
            <a:chExt cx="5088890" cy="2345690"/>
          </a:xfrm>
        </p:grpSpPr>
        <p:sp>
          <p:nvSpPr>
            <p:cNvPr id="5" name="object 5"/>
            <p:cNvSpPr/>
            <p:nvPr/>
          </p:nvSpPr>
          <p:spPr>
            <a:xfrm>
              <a:off x="642366" y="3065525"/>
              <a:ext cx="5074920" cy="2331720"/>
            </a:xfrm>
            <a:custGeom>
              <a:avLst/>
              <a:gdLst/>
              <a:ahLst/>
              <a:cxnLst/>
              <a:rect l="l" t="t" r="r" b="b"/>
              <a:pathLst>
                <a:path w="5074920" h="2331720">
                  <a:moveTo>
                    <a:pt x="5001768" y="0"/>
                  </a:moveTo>
                  <a:lnTo>
                    <a:pt x="73139" y="0"/>
                  </a:lnTo>
                  <a:lnTo>
                    <a:pt x="44673" y="5750"/>
                  </a:lnTo>
                  <a:lnTo>
                    <a:pt x="21424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2258568"/>
                  </a:lnTo>
                  <a:lnTo>
                    <a:pt x="5748" y="2287035"/>
                  </a:lnTo>
                  <a:lnTo>
                    <a:pt x="21424" y="2310288"/>
                  </a:lnTo>
                  <a:lnTo>
                    <a:pt x="44673" y="2325969"/>
                  </a:lnTo>
                  <a:lnTo>
                    <a:pt x="73139" y="2331720"/>
                  </a:lnTo>
                  <a:lnTo>
                    <a:pt x="5001768" y="2331720"/>
                  </a:lnTo>
                  <a:lnTo>
                    <a:pt x="5030235" y="2325969"/>
                  </a:lnTo>
                  <a:lnTo>
                    <a:pt x="5053488" y="2310288"/>
                  </a:lnTo>
                  <a:lnTo>
                    <a:pt x="5069169" y="2287035"/>
                  </a:lnTo>
                  <a:lnTo>
                    <a:pt x="5074920" y="2258568"/>
                  </a:lnTo>
                  <a:lnTo>
                    <a:pt x="5074920" y="73151"/>
                  </a:lnTo>
                  <a:lnTo>
                    <a:pt x="5069169" y="44684"/>
                  </a:lnTo>
                  <a:lnTo>
                    <a:pt x="5053488" y="21431"/>
                  </a:lnTo>
                  <a:lnTo>
                    <a:pt x="5030235" y="5750"/>
                  </a:lnTo>
                  <a:lnTo>
                    <a:pt x="5001768" y="0"/>
                  </a:lnTo>
                  <a:close/>
                </a:path>
              </a:pathLst>
            </a:custGeom>
            <a:solidFill>
              <a:srgbClr val="F5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2366" y="3065525"/>
              <a:ext cx="5074920" cy="2331720"/>
            </a:xfrm>
            <a:custGeom>
              <a:avLst/>
              <a:gdLst/>
              <a:ahLst/>
              <a:cxnLst/>
              <a:rect l="l" t="t" r="r" b="b"/>
              <a:pathLst>
                <a:path w="5074920" h="2331720">
                  <a:moveTo>
                    <a:pt x="0" y="73151"/>
                  </a:moveTo>
                  <a:lnTo>
                    <a:pt x="5748" y="44684"/>
                  </a:lnTo>
                  <a:lnTo>
                    <a:pt x="21424" y="21431"/>
                  </a:lnTo>
                  <a:lnTo>
                    <a:pt x="44673" y="5750"/>
                  </a:lnTo>
                  <a:lnTo>
                    <a:pt x="73139" y="0"/>
                  </a:lnTo>
                  <a:lnTo>
                    <a:pt x="5001768" y="0"/>
                  </a:lnTo>
                  <a:lnTo>
                    <a:pt x="5030235" y="5750"/>
                  </a:lnTo>
                  <a:lnTo>
                    <a:pt x="5053488" y="21431"/>
                  </a:lnTo>
                  <a:lnTo>
                    <a:pt x="5069169" y="44684"/>
                  </a:lnTo>
                  <a:lnTo>
                    <a:pt x="5074920" y="73151"/>
                  </a:lnTo>
                  <a:lnTo>
                    <a:pt x="5074920" y="2258568"/>
                  </a:lnTo>
                  <a:lnTo>
                    <a:pt x="5069169" y="2287035"/>
                  </a:lnTo>
                  <a:lnTo>
                    <a:pt x="5053488" y="2310288"/>
                  </a:lnTo>
                  <a:lnTo>
                    <a:pt x="5030235" y="2325969"/>
                  </a:lnTo>
                  <a:lnTo>
                    <a:pt x="5001768" y="2331720"/>
                  </a:lnTo>
                  <a:lnTo>
                    <a:pt x="73139" y="2331720"/>
                  </a:lnTo>
                  <a:lnTo>
                    <a:pt x="44673" y="2325969"/>
                  </a:lnTo>
                  <a:lnTo>
                    <a:pt x="21424" y="2310288"/>
                  </a:lnTo>
                  <a:lnTo>
                    <a:pt x="5748" y="2287035"/>
                  </a:lnTo>
                  <a:lnTo>
                    <a:pt x="0" y="2258568"/>
                  </a:lnTo>
                  <a:lnTo>
                    <a:pt x="0" y="73151"/>
                  </a:lnTo>
                  <a:close/>
                </a:path>
              </a:pathLst>
            </a:custGeom>
            <a:ln w="13715">
              <a:solidFill>
                <a:srgbClr val="F5F6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02004" y="3382136"/>
            <a:ext cx="2056764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dirty="0">
                <a:solidFill>
                  <a:srgbClr val="1E2760"/>
                </a:solidFill>
                <a:latin typeface="Cambria"/>
                <a:cs typeface="Cambria"/>
              </a:rPr>
              <a:t>Haar</a:t>
            </a:r>
            <a:r>
              <a:rPr sz="1500" b="1" spc="-30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500" b="1" dirty="0">
                <a:solidFill>
                  <a:srgbClr val="1E2760"/>
                </a:solidFill>
                <a:latin typeface="Cambria"/>
                <a:cs typeface="Cambria"/>
              </a:rPr>
              <a:t>Cascade</a:t>
            </a:r>
            <a:r>
              <a:rPr sz="1500" b="1" spc="-55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500" b="1" spc="-10" dirty="0">
                <a:solidFill>
                  <a:srgbClr val="1E2760"/>
                </a:solidFill>
                <a:latin typeface="Cambria"/>
                <a:cs typeface="Cambria"/>
              </a:rPr>
              <a:t>Classifier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2004" y="3808087"/>
            <a:ext cx="4474845" cy="7112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90"/>
              </a:spcBef>
            </a:pP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Used for</a:t>
            </a:r>
            <a:r>
              <a:rPr sz="1250" spc="-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face</a:t>
            </a:r>
            <a:r>
              <a:rPr sz="1250" spc="-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detection</a:t>
            </a:r>
            <a:r>
              <a:rPr sz="1250" spc="-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—</a:t>
            </a:r>
            <a:r>
              <a:rPr sz="1250" spc="-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scans</a:t>
            </a:r>
            <a:r>
              <a:rPr sz="1250" spc="-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an</a:t>
            </a:r>
            <a:r>
              <a:rPr sz="1250" spc="-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image</a:t>
            </a:r>
            <a:r>
              <a:rPr sz="1250" spc="-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sz="1250" spc="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locates</a:t>
            </a:r>
            <a:r>
              <a:rPr sz="1250" spc="-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1250" spc="-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position </a:t>
            </a:r>
            <a:r>
              <a:rPr sz="1250" spc="-25" dirty="0">
                <a:solidFill>
                  <a:srgbClr val="2B2B2B"/>
                </a:solidFill>
                <a:latin typeface="Calibri"/>
                <a:cs typeface="Calibri"/>
              </a:rPr>
              <a:t>of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faces</a:t>
            </a:r>
            <a:r>
              <a:rPr sz="1250" spc="-7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using</a:t>
            </a:r>
            <a:r>
              <a:rPr sz="1250" spc="-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scale</a:t>
            </a:r>
            <a:r>
              <a:rPr sz="1250" spc="-7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2B2B2B"/>
                </a:solidFill>
                <a:latin typeface="Calibri"/>
                <a:cs typeface="Calibri"/>
              </a:rPr>
              <a:t>factor,</a:t>
            </a:r>
            <a:r>
              <a:rPr sz="1250" spc="-6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minimum</a:t>
            </a:r>
            <a:r>
              <a:rPr sz="1250" spc="-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B2B2B"/>
                </a:solidFill>
                <a:latin typeface="Calibri"/>
                <a:cs typeface="Calibri"/>
              </a:rPr>
              <a:t>neighbors,</a:t>
            </a:r>
            <a:r>
              <a:rPr sz="1250" spc="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sz="1250" spc="-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minimum</a:t>
            </a:r>
            <a:r>
              <a:rPr sz="1250" spc="-20" dirty="0">
                <a:solidFill>
                  <a:srgbClr val="2B2B2B"/>
                </a:solidFill>
                <a:latin typeface="Calibri"/>
                <a:cs typeface="Calibri"/>
              </a:rPr>
              <a:t> size </a:t>
            </a:r>
            <a:r>
              <a:rPr sz="1250" spc="-10" dirty="0">
                <a:solidFill>
                  <a:srgbClr val="2B2B2B"/>
                </a:solidFill>
                <a:latin typeface="Calibri"/>
                <a:cs typeface="Calibri"/>
              </a:rPr>
              <a:t>parameters.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167628" y="3058667"/>
            <a:ext cx="5088890" cy="2345690"/>
            <a:chOff x="6167628" y="3058667"/>
            <a:chExt cx="5088890" cy="2345690"/>
          </a:xfrm>
        </p:grpSpPr>
        <p:sp>
          <p:nvSpPr>
            <p:cNvPr id="10" name="object 10"/>
            <p:cNvSpPr/>
            <p:nvPr/>
          </p:nvSpPr>
          <p:spPr>
            <a:xfrm>
              <a:off x="6174486" y="3065525"/>
              <a:ext cx="5074920" cy="2331720"/>
            </a:xfrm>
            <a:custGeom>
              <a:avLst/>
              <a:gdLst/>
              <a:ahLst/>
              <a:cxnLst/>
              <a:rect l="l" t="t" r="r" b="b"/>
              <a:pathLst>
                <a:path w="5074920" h="2331720">
                  <a:moveTo>
                    <a:pt x="500176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2258568"/>
                  </a:lnTo>
                  <a:lnTo>
                    <a:pt x="5750" y="2287035"/>
                  </a:lnTo>
                  <a:lnTo>
                    <a:pt x="21431" y="2310288"/>
                  </a:lnTo>
                  <a:lnTo>
                    <a:pt x="44684" y="2325969"/>
                  </a:lnTo>
                  <a:lnTo>
                    <a:pt x="73151" y="2331720"/>
                  </a:lnTo>
                  <a:lnTo>
                    <a:pt x="5001768" y="2331720"/>
                  </a:lnTo>
                  <a:lnTo>
                    <a:pt x="5030235" y="2325969"/>
                  </a:lnTo>
                  <a:lnTo>
                    <a:pt x="5053488" y="2310288"/>
                  </a:lnTo>
                  <a:lnTo>
                    <a:pt x="5069169" y="2287035"/>
                  </a:lnTo>
                  <a:lnTo>
                    <a:pt x="5074920" y="2258568"/>
                  </a:lnTo>
                  <a:lnTo>
                    <a:pt x="5074920" y="73151"/>
                  </a:lnTo>
                  <a:lnTo>
                    <a:pt x="5069169" y="44684"/>
                  </a:lnTo>
                  <a:lnTo>
                    <a:pt x="5053488" y="21431"/>
                  </a:lnTo>
                  <a:lnTo>
                    <a:pt x="5030235" y="5750"/>
                  </a:lnTo>
                  <a:lnTo>
                    <a:pt x="5001768" y="0"/>
                  </a:lnTo>
                  <a:close/>
                </a:path>
              </a:pathLst>
            </a:custGeom>
            <a:solidFill>
              <a:srgbClr val="F5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74486" y="3065525"/>
              <a:ext cx="5074920" cy="2331720"/>
            </a:xfrm>
            <a:custGeom>
              <a:avLst/>
              <a:gdLst/>
              <a:ahLst/>
              <a:cxnLst/>
              <a:rect l="l" t="t" r="r" b="b"/>
              <a:pathLst>
                <a:path w="5074920" h="233172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5001768" y="0"/>
                  </a:lnTo>
                  <a:lnTo>
                    <a:pt x="5030235" y="5750"/>
                  </a:lnTo>
                  <a:lnTo>
                    <a:pt x="5053488" y="21431"/>
                  </a:lnTo>
                  <a:lnTo>
                    <a:pt x="5069169" y="44684"/>
                  </a:lnTo>
                  <a:lnTo>
                    <a:pt x="5074920" y="73151"/>
                  </a:lnTo>
                  <a:lnTo>
                    <a:pt x="5074920" y="2258568"/>
                  </a:lnTo>
                  <a:lnTo>
                    <a:pt x="5069169" y="2287035"/>
                  </a:lnTo>
                  <a:lnTo>
                    <a:pt x="5053488" y="2310288"/>
                  </a:lnTo>
                  <a:lnTo>
                    <a:pt x="5030235" y="2325969"/>
                  </a:lnTo>
                  <a:lnTo>
                    <a:pt x="5001768" y="2331720"/>
                  </a:lnTo>
                  <a:lnTo>
                    <a:pt x="73151" y="2331720"/>
                  </a:lnTo>
                  <a:lnTo>
                    <a:pt x="44684" y="2325969"/>
                  </a:lnTo>
                  <a:lnTo>
                    <a:pt x="21431" y="2310288"/>
                  </a:lnTo>
                  <a:lnTo>
                    <a:pt x="5750" y="2287035"/>
                  </a:lnTo>
                  <a:lnTo>
                    <a:pt x="0" y="2258568"/>
                  </a:lnTo>
                  <a:lnTo>
                    <a:pt x="0" y="73151"/>
                  </a:lnTo>
                  <a:close/>
                </a:path>
              </a:pathLst>
            </a:custGeom>
            <a:ln w="13716">
              <a:solidFill>
                <a:srgbClr val="F5F6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436233" y="3382136"/>
            <a:ext cx="196088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dirty="0">
                <a:solidFill>
                  <a:srgbClr val="1E2760"/>
                </a:solidFill>
                <a:latin typeface="Cambria"/>
                <a:cs typeface="Cambria"/>
              </a:rPr>
              <a:t>LBPH</a:t>
            </a:r>
            <a:r>
              <a:rPr sz="1500" b="1" spc="-40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500" b="1" spc="-10" dirty="0">
                <a:solidFill>
                  <a:srgbClr val="1E2760"/>
                </a:solidFill>
                <a:latin typeface="Cambria"/>
                <a:cs typeface="Cambria"/>
              </a:rPr>
              <a:t>Face</a:t>
            </a:r>
            <a:r>
              <a:rPr sz="1500" b="1" spc="-40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500" b="1" spc="-10" dirty="0">
                <a:solidFill>
                  <a:srgbClr val="1E2760"/>
                </a:solidFill>
                <a:latin typeface="Cambria"/>
                <a:cs typeface="Cambria"/>
              </a:rPr>
              <a:t>Recognizer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Face</a:t>
            </a:r>
            <a:r>
              <a:rPr spc="-5" dirty="0"/>
              <a:t> </a:t>
            </a:r>
            <a:r>
              <a:rPr spc="-10" dirty="0"/>
              <a:t>Recognition</a:t>
            </a:r>
            <a:r>
              <a:rPr spc="-25" dirty="0"/>
              <a:t> </a:t>
            </a:r>
            <a:r>
              <a:rPr dirty="0"/>
              <a:t>Using</a:t>
            </a:r>
            <a:r>
              <a:rPr spc="15" dirty="0"/>
              <a:t> </a:t>
            </a:r>
            <a:r>
              <a:rPr spc="-10" dirty="0"/>
              <a:t>Python</a:t>
            </a:r>
            <a:r>
              <a:rPr spc="10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10" dirty="0"/>
              <a:t>OpenCV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13" name="object 13"/>
          <p:cNvSpPr txBox="1"/>
          <p:nvPr/>
        </p:nvSpPr>
        <p:spPr>
          <a:xfrm>
            <a:off x="6436233" y="3808087"/>
            <a:ext cx="4389120" cy="48260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Local</a:t>
            </a:r>
            <a:r>
              <a:rPr sz="1250" spc="-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Binary</a:t>
            </a:r>
            <a:r>
              <a:rPr sz="1250" spc="-10" dirty="0">
                <a:solidFill>
                  <a:srgbClr val="2B2B2B"/>
                </a:solidFill>
                <a:latin typeface="Calibri"/>
                <a:cs typeface="Calibri"/>
              </a:rPr>
              <a:t> Pattern</a:t>
            </a:r>
            <a:r>
              <a:rPr sz="1250" spc="-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Histogram</a:t>
            </a:r>
            <a:r>
              <a:rPr sz="1250" spc="-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—</a:t>
            </a:r>
            <a:r>
              <a:rPr sz="1250" spc="-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trained</a:t>
            </a:r>
            <a:r>
              <a:rPr sz="1250" spc="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on</a:t>
            </a:r>
            <a:r>
              <a:rPr sz="1250" spc="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B2B2B"/>
                </a:solidFill>
                <a:latin typeface="Calibri"/>
                <a:cs typeface="Calibri"/>
              </a:rPr>
              <a:t>grayscale</a:t>
            </a:r>
            <a:r>
              <a:rPr sz="1250" spc="-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facial</a:t>
            </a:r>
            <a:r>
              <a:rPr sz="1250" spc="-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B2B2B"/>
                </a:solidFill>
                <a:latin typeface="Calibri"/>
                <a:cs typeface="Calibri"/>
              </a:rPr>
              <a:t>images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to</a:t>
            </a:r>
            <a:r>
              <a:rPr sz="1250" spc="-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B2B2B"/>
                </a:solidFill>
                <a:latin typeface="Calibri"/>
                <a:cs typeface="Calibri"/>
              </a:rPr>
              <a:t>recognize</a:t>
            </a:r>
            <a:r>
              <a:rPr sz="1250" spc="-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identities</a:t>
            </a:r>
            <a:r>
              <a:rPr sz="1250" spc="-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sz="1250" spc="-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predict</a:t>
            </a:r>
            <a:r>
              <a:rPr sz="1250" spc="-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1250" spc="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label</a:t>
            </a:r>
            <a:r>
              <a:rPr sz="1250" spc="-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of</a:t>
            </a:r>
            <a:r>
              <a:rPr sz="1250" spc="-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a</a:t>
            </a:r>
            <a:r>
              <a:rPr sz="1250" spc="-10" dirty="0">
                <a:solidFill>
                  <a:srgbClr val="2B2B2B"/>
                </a:solidFill>
                <a:latin typeface="Calibri"/>
                <a:cs typeface="Calibri"/>
              </a:rPr>
              <a:t> detected</a:t>
            </a:r>
            <a:r>
              <a:rPr sz="1250" spc="-6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B2B2B"/>
                </a:solidFill>
                <a:latin typeface="Calibri"/>
                <a:cs typeface="Calibri"/>
              </a:rPr>
              <a:t>face.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Face</a:t>
            </a:r>
            <a:r>
              <a:rPr spc="-5" dirty="0"/>
              <a:t> </a:t>
            </a:r>
            <a:r>
              <a:rPr spc="-10" dirty="0"/>
              <a:t>Recognition</a:t>
            </a:r>
            <a:r>
              <a:rPr spc="-25" dirty="0"/>
              <a:t> </a:t>
            </a:r>
            <a:r>
              <a:rPr dirty="0"/>
              <a:t>Using</a:t>
            </a:r>
            <a:r>
              <a:rPr spc="15" dirty="0"/>
              <a:t> </a:t>
            </a:r>
            <a:r>
              <a:rPr spc="-10" dirty="0"/>
              <a:t>Python</a:t>
            </a:r>
            <a:r>
              <a:rPr spc="10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10" dirty="0"/>
              <a:t>OpenCV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Problem</a:t>
            </a:r>
            <a:r>
              <a:rPr spc="-100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Existing</a:t>
            </a:r>
            <a:r>
              <a:rPr spc="-85" dirty="0"/>
              <a:t> </a:t>
            </a:r>
            <a:r>
              <a:rPr spc="-10" dirty="0"/>
              <a:t>Problem</a:t>
            </a:r>
          </a:p>
          <a:p>
            <a:pPr marL="12700">
              <a:lnSpc>
                <a:spcPct val="100000"/>
              </a:lnSpc>
              <a:spcBef>
                <a:spcPts val="1925"/>
              </a:spcBef>
            </a:pPr>
            <a:r>
              <a:rPr sz="1350" b="0" dirty="0">
                <a:solidFill>
                  <a:srgbClr val="2B2B2B"/>
                </a:solidFill>
                <a:latin typeface="Calibri"/>
                <a:cs typeface="Calibri"/>
              </a:rPr>
              <a:t>Identifying</a:t>
            </a:r>
            <a:r>
              <a:rPr sz="1350" b="0" spc="-1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2B2B2B"/>
                </a:solidFill>
                <a:latin typeface="Calibri"/>
                <a:cs typeface="Calibri"/>
              </a:rPr>
              <a:t>individuals</a:t>
            </a:r>
            <a:r>
              <a:rPr sz="1350" b="0" spc="-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2B2B2B"/>
                </a:solidFill>
                <a:latin typeface="Calibri"/>
                <a:cs typeface="Calibri"/>
              </a:rPr>
              <a:t>from</a:t>
            </a:r>
            <a:r>
              <a:rPr sz="1350" b="0" spc="-10" dirty="0">
                <a:solidFill>
                  <a:srgbClr val="2B2B2B"/>
                </a:solidFill>
                <a:latin typeface="Calibri"/>
                <a:cs typeface="Calibri"/>
              </a:rPr>
              <a:t> photographs</a:t>
            </a:r>
            <a:r>
              <a:rPr sz="1350" b="0" spc="-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2B2B2B"/>
                </a:solidFill>
                <a:latin typeface="Calibri"/>
                <a:cs typeface="Calibri"/>
              </a:rPr>
              <a:t>manually</a:t>
            </a:r>
            <a:r>
              <a:rPr sz="1350" b="0" spc="-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b="0" spc="-10" dirty="0">
                <a:solidFill>
                  <a:srgbClr val="2B2B2B"/>
                </a:solidFill>
                <a:latin typeface="Calibri"/>
                <a:cs typeface="Calibri"/>
              </a:rPr>
              <a:t>requires</a:t>
            </a:r>
            <a:r>
              <a:rPr sz="1350" b="0" spc="-7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2B2B2B"/>
                </a:solidFill>
                <a:latin typeface="Calibri"/>
                <a:cs typeface="Calibri"/>
              </a:rPr>
              <a:t>visually</a:t>
            </a:r>
            <a:r>
              <a:rPr sz="1350" b="0" spc="-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2B2B2B"/>
                </a:solidFill>
                <a:latin typeface="Calibri"/>
                <a:cs typeface="Calibri"/>
              </a:rPr>
              <a:t>inspecting</a:t>
            </a:r>
            <a:r>
              <a:rPr sz="1350" b="0" spc="-114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2B2B2B"/>
                </a:solidFill>
                <a:latin typeface="Calibri"/>
                <a:cs typeface="Calibri"/>
              </a:rPr>
              <a:t>images</a:t>
            </a:r>
            <a:r>
              <a:rPr sz="1350" b="0" spc="-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sz="1350" b="0" spc="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2B2B2B"/>
                </a:solidFill>
                <a:latin typeface="Calibri"/>
                <a:cs typeface="Calibri"/>
              </a:rPr>
              <a:t>comparing</a:t>
            </a:r>
            <a:r>
              <a:rPr sz="1350" b="0" spc="-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b="0" spc="-10" dirty="0">
                <a:solidFill>
                  <a:srgbClr val="2B2B2B"/>
                </a:solidFill>
                <a:latin typeface="Calibri"/>
                <a:cs typeface="Calibri"/>
              </a:rPr>
              <a:t>facial</a:t>
            </a:r>
            <a:r>
              <a:rPr sz="1350" b="0" spc="-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2B2B2B"/>
                </a:solidFill>
                <a:latin typeface="Calibri"/>
                <a:cs typeface="Calibri"/>
              </a:rPr>
              <a:t>characteristics</a:t>
            </a:r>
            <a:r>
              <a:rPr sz="1350" b="0" spc="-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2B2B2B"/>
                </a:solidFill>
                <a:latin typeface="Calibri"/>
                <a:cs typeface="Calibri"/>
              </a:rPr>
              <a:t>—</a:t>
            </a:r>
            <a:r>
              <a:rPr sz="1350" b="0" spc="-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2B2B2B"/>
                </a:solidFill>
                <a:latin typeface="Calibri"/>
                <a:cs typeface="Calibri"/>
              </a:rPr>
              <a:t>this</a:t>
            </a:r>
            <a:r>
              <a:rPr sz="1350" b="0" spc="-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2B2B2B"/>
                </a:solidFill>
                <a:latin typeface="Calibri"/>
                <a:cs typeface="Calibri"/>
              </a:rPr>
              <a:t>becomes</a:t>
            </a:r>
            <a:r>
              <a:rPr sz="1350" b="0" spc="-7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2B2B2B"/>
                </a:solidFill>
                <a:latin typeface="Calibri"/>
                <a:cs typeface="Calibri"/>
              </a:rPr>
              <a:t>inefficient</a:t>
            </a:r>
            <a:r>
              <a:rPr sz="1350" b="0" spc="-10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2B2B2B"/>
                </a:solidFill>
                <a:latin typeface="Calibri"/>
                <a:cs typeface="Calibri"/>
              </a:rPr>
              <a:t>as </a:t>
            </a:r>
            <a:r>
              <a:rPr sz="1350" b="0" spc="-25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350" b="0" dirty="0">
                <a:solidFill>
                  <a:srgbClr val="2B2B2B"/>
                </a:solidFill>
                <a:latin typeface="Calibri"/>
                <a:cs typeface="Calibri"/>
              </a:rPr>
              <a:t>number</a:t>
            </a:r>
            <a:r>
              <a:rPr sz="1350" b="0" spc="-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2B2B2B"/>
                </a:solidFill>
                <a:latin typeface="Calibri"/>
                <a:cs typeface="Calibri"/>
              </a:rPr>
              <a:t>of</a:t>
            </a:r>
            <a:r>
              <a:rPr sz="1350" b="0" spc="-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2B2B2B"/>
                </a:solidFill>
                <a:latin typeface="Calibri"/>
                <a:cs typeface="Calibri"/>
              </a:rPr>
              <a:t>images</a:t>
            </a:r>
            <a:r>
              <a:rPr sz="1350" b="0" spc="-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b="0" spc="-10" dirty="0">
                <a:solidFill>
                  <a:srgbClr val="2B2B2B"/>
                </a:solidFill>
                <a:latin typeface="Calibri"/>
                <a:cs typeface="Calibri"/>
              </a:rPr>
              <a:t>grows.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/>
              <a:t>The</a:t>
            </a:r>
            <a:r>
              <a:rPr spc="-30" dirty="0"/>
              <a:t> </a:t>
            </a:r>
            <a:r>
              <a:rPr spc="-20" dirty="0"/>
              <a:t>System </a:t>
            </a:r>
            <a:r>
              <a:rPr dirty="0"/>
              <a:t>Needs</a:t>
            </a:r>
            <a:r>
              <a:rPr spc="-45" dirty="0"/>
              <a:t> </a:t>
            </a:r>
            <a:r>
              <a:rPr spc="-25" dirty="0"/>
              <a:t>To</a:t>
            </a:r>
          </a:p>
          <a:p>
            <a:pPr marL="354965" indent="-342265">
              <a:lnSpc>
                <a:spcPct val="100000"/>
              </a:lnSpc>
              <a:spcBef>
                <a:spcPts val="540"/>
              </a:spcBef>
              <a:buChar char="•"/>
              <a:tabLst>
                <a:tab pos="354965" algn="l"/>
              </a:tabLst>
            </a:pPr>
            <a:r>
              <a:rPr sz="1400" b="0" dirty="0">
                <a:solidFill>
                  <a:srgbClr val="2B2B2B"/>
                </a:solidFill>
                <a:latin typeface="Calibri"/>
                <a:cs typeface="Calibri"/>
              </a:rPr>
              <a:t>Read</a:t>
            </a:r>
            <a:r>
              <a:rPr sz="1400" b="0" spc="-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2B2B2B"/>
                </a:solidFill>
                <a:latin typeface="Calibri"/>
                <a:cs typeface="Calibri"/>
              </a:rPr>
              <a:t>an</a:t>
            </a:r>
            <a:r>
              <a:rPr sz="1400" b="0" spc="-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2B2B2B"/>
                </a:solidFill>
                <a:latin typeface="Calibri"/>
                <a:cs typeface="Calibri"/>
              </a:rPr>
              <a:t>input</a:t>
            </a:r>
            <a:r>
              <a:rPr sz="1400" b="0" spc="-20" dirty="0">
                <a:solidFill>
                  <a:srgbClr val="2B2B2B"/>
                </a:solidFill>
                <a:latin typeface="Calibri"/>
                <a:cs typeface="Calibri"/>
              </a:rPr>
              <a:t> image</a:t>
            </a: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60"/>
              </a:spcBef>
              <a:buChar char="•"/>
              <a:tabLst>
                <a:tab pos="354965" algn="l"/>
              </a:tabLst>
            </a:pPr>
            <a:r>
              <a:rPr sz="1400" b="0" dirty="0">
                <a:solidFill>
                  <a:srgbClr val="2B2B2B"/>
                </a:solidFill>
                <a:latin typeface="Calibri"/>
                <a:cs typeface="Calibri"/>
              </a:rPr>
              <a:t>Detect</a:t>
            </a:r>
            <a:r>
              <a:rPr sz="1400" b="0" spc="-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b="0" spc="-10" dirty="0">
                <a:solidFill>
                  <a:srgbClr val="2B2B2B"/>
                </a:solidFill>
                <a:latin typeface="Calibri"/>
                <a:cs typeface="Calibri"/>
              </a:rPr>
              <a:t>faces</a:t>
            </a:r>
            <a:r>
              <a:rPr sz="1400" b="0" spc="-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2B2B2B"/>
                </a:solidFill>
                <a:latin typeface="Calibri"/>
                <a:cs typeface="Calibri"/>
              </a:rPr>
              <a:t>present</a:t>
            </a:r>
            <a:r>
              <a:rPr sz="1400" b="0" spc="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2B2B2B"/>
                </a:solidFill>
                <a:latin typeface="Calibri"/>
                <a:cs typeface="Calibri"/>
              </a:rPr>
              <a:t>in</a:t>
            </a:r>
            <a:r>
              <a:rPr sz="1400" b="0" spc="-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1400" b="0" spc="-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b="0" spc="-20" dirty="0">
                <a:solidFill>
                  <a:srgbClr val="2B2B2B"/>
                </a:solidFill>
                <a:latin typeface="Calibri"/>
                <a:cs typeface="Calibri"/>
              </a:rPr>
              <a:t>image</a:t>
            </a: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55"/>
              </a:spcBef>
              <a:buChar char="•"/>
              <a:tabLst>
                <a:tab pos="354965" algn="l"/>
              </a:tabLst>
            </a:pPr>
            <a:r>
              <a:rPr sz="1400" b="0" dirty="0">
                <a:solidFill>
                  <a:srgbClr val="2B2B2B"/>
                </a:solidFill>
                <a:latin typeface="Calibri"/>
                <a:cs typeface="Calibri"/>
              </a:rPr>
              <a:t>Extract</a:t>
            </a:r>
            <a:r>
              <a:rPr sz="1400" b="0" spc="-7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1400" b="0" spc="-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2B2B2B"/>
                </a:solidFill>
                <a:latin typeface="Calibri"/>
                <a:cs typeface="Calibri"/>
              </a:rPr>
              <a:t>detected</a:t>
            </a:r>
            <a:r>
              <a:rPr sz="1400" b="0" spc="-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b="0" spc="-10" dirty="0">
                <a:solidFill>
                  <a:srgbClr val="2B2B2B"/>
                </a:solidFill>
                <a:latin typeface="Calibri"/>
                <a:cs typeface="Calibri"/>
              </a:rPr>
              <a:t>facial</a:t>
            </a:r>
            <a:r>
              <a:rPr sz="1400" b="0" spc="-7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b="0" spc="-10" dirty="0">
                <a:solidFill>
                  <a:srgbClr val="2B2B2B"/>
                </a:solidFill>
                <a:latin typeface="Calibri"/>
                <a:cs typeface="Calibri"/>
              </a:rPr>
              <a:t>regions</a:t>
            </a: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60"/>
              </a:spcBef>
              <a:buChar char="•"/>
              <a:tabLst>
                <a:tab pos="354965" algn="l"/>
              </a:tabLst>
            </a:pPr>
            <a:r>
              <a:rPr sz="1400" b="0" dirty="0">
                <a:solidFill>
                  <a:srgbClr val="2B2B2B"/>
                </a:solidFill>
                <a:latin typeface="Calibri"/>
                <a:cs typeface="Calibri"/>
              </a:rPr>
              <a:t>Compare</a:t>
            </a:r>
            <a:r>
              <a:rPr sz="1400" b="0" spc="-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b="0" spc="-10" dirty="0">
                <a:solidFill>
                  <a:srgbClr val="2B2B2B"/>
                </a:solidFill>
                <a:latin typeface="Calibri"/>
                <a:cs typeface="Calibri"/>
              </a:rPr>
              <a:t>facial</a:t>
            </a:r>
            <a:r>
              <a:rPr sz="1400" b="0" spc="-6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b="0" spc="-10" dirty="0">
                <a:solidFill>
                  <a:srgbClr val="2B2B2B"/>
                </a:solidFill>
                <a:latin typeface="Calibri"/>
                <a:cs typeface="Calibri"/>
              </a:rPr>
              <a:t>features</a:t>
            </a:r>
            <a:r>
              <a:rPr sz="1400" b="0" spc="-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b="0" spc="-10" dirty="0">
                <a:solidFill>
                  <a:srgbClr val="2B2B2B"/>
                </a:solidFill>
                <a:latin typeface="Calibri"/>
                <a:cs typeface="Calibri"/>
              </a:rPr>
              <a:t>against</a:t>
            </a:r>
            <a:r>
              <a:rPr sz="1400" b="0" spc="-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2B2B2B"/>
                </a:solidFill>
                <a:latin typeface="Calibri"/>
                <a:cs typeface="Calibri"/>
              </a:rPr>
              <a:t>a</a:t>
            </a:r>
            <a:r>
              <a:rPr sz="1400" b="0" spc="-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b="0" spc="-10" dirty="0">
                <a:solidFill>
                  <a:srgbClr val="2B2B2B"/>
                </a:solidFill>
                <a:latin typeface="Calibri"/>
                <a:cs typeface="Calibri"/>
              </a:rPr>
              <a:t>prepared</a:t>
            </a:r>
            <a:r>
              <a:rPr sz="1400" b="0" spc="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b="0" spc="-10" dirty="0">
                <a:solidFill>
                  <a:srgbClr val="2B2B2B"/>
                </a:solidFill>
                <a:latin typeface="Calibri"/>
                <a:cs typeface="Calibri"/>
              </a:rPr>
              <a:t>training</a:t>
            </a:r>
            <a:r>
              <a:rPr sz="1400" b="0" spc="-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b="0" spc="-10" dirty="0">
                <a:solidFill>
                  <a:srgbClr val="2B2B2B"/>
                </a:solidFill>
                <a:latin typeface="Calibri"/>
                <a:cs typeface="Calibri"/>
              </a:rPr>
              <a:t>dataset</a:t>
            </a: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55"/>
              </a:spcBef>
              <a:buChar char="•"/>
              <a:tabLst>
                <a:tab pos="354965" algn="l"/>
              </a:tabLst>
            </a:pPr>
            <a:r>
              <a:rPr sz="1400" b="0" dirty="0">
                <a:solidFill>
                  <a:srgbClr val="2B2B2B"/>
                </a:solidFill>
                <a:latin typeface="Calibri"/>
                <a:cs typeface="Calibri"/>
              </a:rPr>
              <a:t>Predict</a:t>
            </a:r>
            <a:r>
              <a:rPr sz="1400" b="0" spc="-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1400" b="0" spc="-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2B2B2B"/>
                </a:solidFill>
                <a:latin typeface="Calibri"/>
                <a:cs typeface="Calibri"/>
              </a:rPr>
              <a:t>identity</a:t>
            </a:r>
            <a:r>
              <a:rPr sz="1400" b="0" spc="-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2B2B2B"/>
                </a:solidFill>
                <a:latin typeface="Calibri"/>
                <a:cs typeface="Calibri"/>
              </a:rPr>
              <a:t>label</a:t>
            </a:r>
            <a:r>
              <a:rPr sz="1400" b="0" spc="-6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2B2B2B"/>
                </a:solidFill>
                <a:latin typeface="Calibri"/>
                <a:cs typeface="Calibri"/>
              </a:rPr>
              <a:t>of</a:t>
            </a:r>
            <a:r>
              <a:rPr sz="1400" b="0" spc="-8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1400" b="0" spc="-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2B2B2B"/>
                </a:solidFill>
                <a:latin typeface="Calibri"/>
                <a:cs typeface="Calibri"/>
              </a:rPr>
              <a:t>detected</a:t>
            </a:r>
            <a:r>
              <a:rPr sz="1400" b="0" spc="-20" dirty="0">
                <a:solidFill>
                  <a:srgbClr val="2B2B2B"/>
                </a:solidFill>
                <a:latin typeface="Calibri"/>
                <a:cs typeface="Calibri"/>
              </a:rPr>
              <a:t> face</a:t>
            </a: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60"/>
              </a:spcBef>
              <a:buChar char="•"/>
              <a:tabLst>
                <a:tab pos="354965" algn="l"/>
              </a:tabLst>
            </a:pPr>
            <a:r>
              <a:rPr sz="1400" b="0" spc="-10" dirty="0">
                <a:solidFill>
                  <a:srgbClr val="2B2B2B"/>
                </a:solidFill>
                <a:latin typeface="Calibri"/>
                <a:cs typeface="Calibri"/>
              </a:rPr>
              <a:t>Display</a:t>
            </a:r>
            <a:r>
              <a:rPr sz="1400" b="0" spc="-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b="0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1400" b="0" spc="-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b="0" spc="-10" dirty="0">
                <a:solidFill>
                  <a:srgbClr val="2B2B2B"/>
                </a:solidFill>
                <a:latin typeface="Calibri"/>
                <a:cs typeface="Calibri"/>
              </a:rPr>
              <a:t>recognition</a:t>
            </a:r>
            <a:r>
              <a:rPr sz="1400" b="0" spc="-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b="0" spc="-10" dirty="0">
                <a:solidFill>
                  <a:srgbClr val="2B2B2B"/>
                </a:solidFill>
                <a:latin typeface="Calibri"/>
                <a:cs typeface="Calibri"/>
              </a:rPr>
              <a:t>result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Face</a:t>
            </a:r>
            <a:r>
              <a:rPr spc="-5" dirty="0"/>
              <a:t> </a:t>
            </a:r>
            <a:r>
              <a:rPr spc="-10" dirty="0"/>
              <a:t>Recognition</a:t>
            </a:r>
            <a:r>
              <a:rPr spc="-25" dirty="0"/>
              <a:t> </a:t>
            </a:r>
            <a:r>
              <a:rPr dirty="0"/>
              <a:t>Using</a:t>
            </a:r>
            <a:r>
              <a:rPr spc="15" dirty="0"/>
              <a:t> </a:t>
            </a:r>
            <a:r>
              <a:rPr spc="-10" dirty="0"/>
              <a:t>Python</a:t>
            </a:r>
            <a:r>
              <a:rPr spc="10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10" dirty="0"/>
              <a:t>OpenCV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Project</a:t>
            </a:r>
            <a:r>
              <a:rPr spc="-85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7684" y="1392173"/>
            <a:ext cx="10172065" cy="7785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dirty="0">
                <a:solidFill>
                  <a:srgbClr val="791F2B"/>
                </a:solidFill>
                <a:latin typeface="Cambria"/>
                <a:cs typeface="Cambria"/>
              </a:rPr>
              <a:t>Primary</a:t>
            </a:r>
            <a:r>
              <a:rPr sz="1500" b="1" spc="-35" dirty="0">
                <a:solidFill>
                  <a:srgbClr val="791F2B"/>
                </a:solidFill>
                <a:latin typeface="Cambria"/>
                <a:cs typeface="Cambria"/>
              </a:rPr>
              <a:t> </a:t>
            </a:r>
            <a:r>
              <a:rPr sz="1500" b="1" spc="-10" dirty="0">
                <a:solidFill>
                  <a:srgbClr val="791F2B"/>
                </a:solidFill>
                <a:latin typeface="Cambria"/>
                <a:cs typeface="Cambria"/>
              </a:rPr>
              <a:t>Objective</a:t>
            </a:r>
            <a:endParaRPr sz="15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Develop</a:t>
            </a:r>
            <a:r>
              <a:rPr sz="1350" spc="-7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a</a:t>
            </a:r>
            <a:r>
              <a:rPr sz="1350" spc="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Python-</a:t>
            </a:r>
            <a:r>
              <a:rPr sz="1350" spc="-10" dirty="0">
                <a:solidFill>
                  <a:srgbClr val="2B2B2B"/>
                </a:solidFill>
                <a:latin typeface="Calibri"/>
                <a:cs typeface="Calibri"/>
              </a:rPr>
              <a:t>based</a:t>
            </a:r>
            <a:r>
              <a:rPr sz="1350" spc="-10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B2B2B"/>
                </a:solidFill>
                <a:latin typeface="Calibri"/>
                <a:cs typeface="Calibri"/>
              </a:rPr>
              <a:t>face-recognition</a:t>
            </a:r>
            <a:r>
              <a:rPr sz="1350" spc="-7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B2B2B"/>
                </a:solidFill>
                <a:latin typeface="Calibri"/>
                <a:cs typeface="Calibri"/>
              </a:rPr>
              <a:t>prototype</a:t>
            </a:r>
            <a:r>
              <a:rPr sz="1350" spc="-7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capable</a:t>
            </a:r>
            <a:r>
              <a:rPr sz="1350" spc="-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of</a:t>
            </a:r>
            <a:r>
              <a:rPr sz="1350" spc="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detecting</a:t>
            </a:r>
            <a:r>
              <a:rPr sz="1350" spc="-1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faces</a:t>
            </a:r>
            <a:r>
              <a:rPr sz="1350" spc="-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in</a:t>
            </a:r>
            <a:r>
              <a:rPr sz="1350" spc="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images</a:t>
            </a:r>
            <a:r>
              <a:rPr sz="1350" spc="-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sz="1350" spc="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predicting</a:t>
            </a:r>
            <a:r>
              <a:rPr sz="1350" spc="-1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their</a:t>
            </a:r>
            <a:r>
              <a:rPr sz="1350" spc="-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identity</a:t>
            </a:r>
            <a:r>
              <a:rPr sz="1350" spc="-1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using</a:t>
            </a:r>
            <a:r>
              <a:rPr sz="1350" spc="-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a</a:t>
            </a:r>
            <a:r>
              <a:rPr sz="1350" spc="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trained</a:t>
            </a:r>
            <a:r>
              <a:rPr sz="1350" spc="-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LBPH</a:t>
            </a:r>
            <a:r>
              <a:rPr sz="1350" spc="-6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B2B2B"/>
                </a:solidFill>
                <a:latin typeface="Calibri"/>
                <a:cs typeface="Calibri"/>
              </a:rPr>
              <a:t>model.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7684" y="2462607"/>
            <a:ext cx="3804920" cy="1812289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700" b="1" dirty="0">
                <a:solidFill>
                  <a:srgbClr val="791F2B"/>
                </a:solidFill>
                <a:latin typeface="Cambria"/>
                <a:cs typeface="Cambria"/>
              </a:rPr>
              <a:t>Specific</a:t>
            </a:r>
            <a:r>
              <a:rPr sz="1700" b="1" spc="-65" dirty="0">
                <a:solidFill>
                  <a:srgbClr val="791F2B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791F2B"/>
                </a:solidFill>
                <a:latin typeface="Cambria"/>
                <a:cs typeface="Cambria"/>
              </a:rPr>
              <a:t>Objectives</a:t>
            </a:r>
            <a:endParaRPr sz="17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60"/>
              </a:spcBef>
              <a:buChar char="•"/>
              <a:tabLst>
                <a:tab pos="354965" algn="l"/>
              </a:tabLst>
            </a:pPr>
            <a:r>
              <a:rPr sz="1350" spc="-10" dirty="0">
                <a:solidFill>
                  <a:srgbClr val="2B2B2B"/>
                </a:solidFill>
                <a:latin typeface="Calibri"/>
                <a:cs typeface="Calibri"/>
              </a:rPr>
              <a:t>Understand</a:t>
            </a:r>
            <a:r>
              <a:rPr sz="1350" spc="-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1350" spc="-10" dirty="0">
                <a:solidFill>
                  <a:srgbClr val="2B2B2B"/>
                </a:solidFill>
                <a:latin typeface="Calibri"/>
                <a:cs typeface="Calibri"/>
              </a:rPr>
              <a:t> fundamentals</a:t>
            </a:r>
            <a:r>
              <a:rPr sz="1350" spc="-9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of</a:t>
            </a:r>
            <a:r>
              <a:rPr sz="1350" spc="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computer</a:t>
            </a:r>
            <a:r>
              <a:rPr sz="1350" spc="-6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B2B2B"/>
                </a:solidFill>
                <a:latin typeface="Calibri"/>
                <a:cs typeface="Calibri"/>
              </a:rPr>
              <a:t>vision</a:t>
            </a:r>
            <a:endParaRPr sz="13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har char="•"/>
              <a:tabLst>
                <a:tab pos="354965" algn="l"/>
              </a:tabLst>
            </a:pP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Implement</a:t>
            </a:r>
            <a:r>
              <a:rPr sz="1350" spc="-1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face</a:t>
            </a:r>
            <a:r>
              <a:rPr sz="1350" spc="-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detection</a:t>
            </a:r>
            <a:r>
              <a:rPr sz="1350" spc="-114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using</a:t>
            </a:r>
            <a:r>
              <a:rPr sz="1350" spc="-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B2B2B"/>
                </a:solidFill>
                <a:latin typeface="Calibri"/>
                <a:cs typeface="Calibri"/>
              </a:rPr>
              <a:t>OpenCV</a:t>
            </a:r>
            <a:endParaRPr sz="13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har char="•"/>
              <a:tabLst>
                <a:tab pos="354965" algn="l"/>
              </a:tabLst>
            </a:pPr>
            <a:r>
              <a:rPr sz="1350" spc="-20" dirty="0">
                <a:solidFill>
                  <a:srgbClr val="2B2B2B"/>
                </a:solidFill>
                <a:latin typeface="Calibri"/>
                <a:cs typeface="Calibri"/>
              </a:rPr>
              <a:t>Organize</a:t>
            </a:r>
            <a:r>
              <a:rPr sz="1350" spc="-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facial images</a:t>
            </a:r>
            <a:r>
              <a:rPr sz="1350" spc="-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into</a:t>
            </a:r>
            <a:r>
              <a:rPr sz="1350" spc="-9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a</a:t>
            </a:r>
            <a:r>
              <a:rPr sz="1350" spc="-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structured</a:t>
            </a:r>
            <a:r>
              <a:rPr sz="1350" spc="-8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B2B2B"/>
                </a:solidFill>
                <a:latin typeface="Calibri"/>
                <a:cs typeface="Calibri"/>
              </a:rPr>
              <a:t>dataset</a:t>
            </a:r>
            <a:endParaRPr sz="13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445"/>
              </a:spcBef>
              <a:buChar char="•"/>
              <a:tabLst>
                <a:tab pos="354965" algn="l"/>
              </a:tabLst>
            </a:pP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Extract </a:t>
            </a:r>
            <a:r>
              <a:rPr sz="1350" spc="-10" dirty="0">
                <a:solidFill>
                  <a:srgbClr val="2B2B2B"/>
                </a:solidFill>
                <a:latin typeface="Calibri"/>
                <a:cs typeface="Calibri"/>
              </a:rPr>
              <a:t>facial</a:t>
            </a:r>
            <a:r>
              <a:rPr sz="1350" spc="-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regions</a:t>
            </a:r>
            <a:r>
              <a:rPr sz="1350" spc="-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sz="1350" spc="-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B2B2B"/>
                </a:solidFill>
                <a:latin typeface="Calibri"/>
                <a:cs typeface="Calibri"/>
              </a:rPr>
              <a:t>generate</a:t>
            </a:r>
            <a:r>
              <a:rPr sz="1350" spc="-8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B2B2B"/>
                </a:solidFill>
                <a:latin typeface="Calibri"/>
                <a:cs typeface="Calibri"/>
              </a:rPr>
              <a:t>labels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12789" y="2874391"/>
            <a:ext cx="3164205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4"/>
              </a:spcBef>
              <a:buChar char="•"/>
              <a:tabLst>
                <a:tab pos="354965" algn="l"/>
              </a:tabLst>
            </a:pPr>
            <a:r>
              <a:rPr sz="1350" spc="-10" dirty="0">
                <a:solidFill>
                  <a:srgbClr val="2B2B2B"/>
                </a:solidFill>
                <a:latin typeface="Calibri"/>
                <a:cs typeface="Calibri"/>
              </a:rPr>
              <a:t>Store</a:t>
            </a:r>
            <a:r>
              <a:rPr sz="1350" spc="-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B2B2B"/>
                </a:solidFill>
                <a:latin typeface="Calibri"/>
                <a:cs typeface="Calibri"/>
              </a:rPr>
              <a:t>training</a:t>
            </a:r>
            <a:r>
              <a:rPr sz="1350" spc="-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B2B2B"/>
                </a:solidFill>
                <a:latin typeface="Calibri"/>
                <a:cs typeface="Calibri"/>
              </a:rPr>
              <a:t>information</a:t>
            </a:r>
            <a:r>
              <a:rPr sz="1350" spc="-7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in</a:t>
            </a:r>
            <a:r>
              <a:rPr sz="1350" spc="-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CSV</a:t>
            </a:r>
            <a:r>
              <a:rPr sz="1350" spc="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B2B2B"/>
                </a:solidFill>
                <a:latin typeface="Calibri"/>
                <a:cs typeface="Calibri"/>
              </a:rPr>
              <a:t>format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12789" y="3263265"/>
            <a:ext cx="3168015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4"/>
              </a:spcBef>
              <a:buChar char="•"/>
              <a:tabLst>
                <a:tab pos="354965" algn="l"/>
              </a:tabLst>
            </a:pPr>
            <a:r>
              <a:rPr sz="1350" spc="-10" dirty="0">
                <a:solidFill>
                  <a:srgbClr val="2B2B2B"/>
                </a:solidFill>
                <a:latin typeface="Calibri"/>
                <a:cs typeface="Calibri"/>
              </a:rPr>
              <a:t>Preprocess</a:t>
            </a:r>
            <a:r>
              <a:rPr sz="1350" spc="-7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images</a:t>
            </a:r>
            <a:r>
              <a:rPr sz="1350" spc="-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into</a:t>
            </a:r>
            <a:r>
              <a:rPr sz="1350" spc="-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B2B2B"/>
                </a:solidFill>
                <a:latin typeface="Calibri"/>
                <a:cs typeface="Calibri"/>
              </a:rPr>
              <a:t>grayscale</a:t>
            </a:r>
            <a:r>
              <a:rPr sz="1350" spc="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B2B2B"/>
                </a:solidFill>
                <a:latin typeface="Calibri"/>
                <a:cs typeface="Calibri"/>
              </a:rPr>
              <a:t>format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12789" y="3651580"/>
            <a:ext cx="2983230" cy="234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0"/>
              </a:spcBef>
              <a:buChar char="•"/>
              <a:tabLst>
                <a:tab pos="354965" algn="l"/>
              </a:tabLst>
            </a:pPr>
            <a:r>
              <a:rPr sz="1350" spc="-25" dirty="0">
                <a:solidFill>
                  <a:srgbClr val="2B2B2B"/>
                </a:solidFill>
                <a:latin typeface="Calibri"/>
                <a:cs typeface="Calibri"/>
              </a:rPr>
              <a:t>Train</a:t>
            </a:r>
            <a:r>
              <a:rPr sz="1350" spc="-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an</a:t>
            </a:r>
            <a:r>
              <a:rPr sz="1350" spc="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LBPH</a:t>
            </a:r>
            <a:r>
              <a:rPr sz="1350" spc="-6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B2B2B"/>
                </a:solidFill>
                <a:latin typeface="Calibri"/>
                <a:cs typeface="Calibri"/>
              </a:rPr>
              <a:t>face-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recognition</a:t>
            </a:r>
            <a:r>
              <a:rPr sz="1350" spc="-1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B2B2B"/>
                </a:solidFill>
                <a:latin typeface="Calibri"/>
                <a:cs typeface="Calibri"/>
              </a:rPr>
              <a:t>model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12789" y="4040581"/>
            <a:ext cx="3818254" cy="234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0"/>
              </a:spcBef>
              <a:buChar char="•"/>
              <a:tabLst>
                <a:tab pos="354965" algn="l"/>
              </a:tabLst>
            </a:pP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Detect,</a:t>
            </a:r>
            <a:r>
              <a:rPr sz="1350" spc="-10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predict,</a:t>
            </a:r>
            <a:r>
              <a:rPr sz="1350" spc="-6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sz="1350" spc="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display</a:t>
            </a:r>
            <a:r>
              <a:rPr sz="1350" spc="-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1350" spc="-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recognition</a:t>
            </a:r>
            <a:r>
              <a:rPr sz="1350" spc="-114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B2B2B"/>
                </a:solidFill>
                <a:latin typeface="Calibri"/>
                <a:cs typeface="Calibri"/>
              </a:rPr>
              <a:t>result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Technologies</a:t>
            </a:r>
            <a:r>
              <a:rPr spc="-90" dirty="0"/>
              <a:t> </a:t>
            </a:r>
            <a:r>
              <a:rPr dirty="0"/>
              <a:t>&amp;</a:t>
            </a:r>
            <a:r>
              <a:rPr spc="-85" dirty="0"/>
              <a:t> </a:t>
            </a:r>
            <a:r>
              <a:rPr spc="-25" dirty="0"/>
              <a:t>Tools </a:t>
            </a:r>
            <a:r>
              <a:rPr spc="-20" dirty="0"/>
              <a:t>Used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35508" y="1504188"/>
            <a:ext cx="3438525" cy="1248410"/>
            <a:chOff x="635508" y="1504188"/>
            <a:chExt cx="3438525" cy="1248410"/>
          </a:xfrm>
        </p:grpSpPr>
        <p:sp>
          <p:nvSpPr>
            <p:cNvPr id="4" name="object 4"/>
            <p:cNvSpPr/>
            <p:nvPr/>
          </p:nvSpPr>
          <p:spPr>
            <a:xfrm>
              <a:off x="642366" y="1511046"/>
              <a:ext cx="3424554" cy="1234440"/>
            </a:xfrm>
            <a:custGeom>
              <a:avLst/>
              <a:gdLst/>
              <a:ahLst/>
              <a:cxnLst/>
              <a:rect l="l" t="t" r="r" b="b"/>
              <a:pathLst>
                <a:path w="3424554" h="1234439">
                  <a:moveTo>
                    <a:pt x="3369564" y="0"/>
                  </a:moveTo>
                  <a:lnTo>
                    <a:pt x="54851" y="0"/>
                  </a:lnTo>
                  <a:lnTo>
                    <a:pt x="33502" y="4304"/>
                  </a:lnTo>
                  <a:lnTo>
                    <a:pt x="16067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1179576"/>
                  </a:lnTo>
                  <a:lnTo>
                    <a:pt x="4311" y="1200953"/>
                  </a:lnTo>
                  <a:lnTo>
                    <a:pt x="16067" y="1218390"/>
                  </a:lnTo>
                  <a:lnTo>
                    <a:pt x="33502" y="1230135"/>
                  </a:lnTo>
                  <a:lnTo>
                    <a:pt x="54851" y="1234439"/>
                  </a:lnTo>
                  <a:lnTo>
                    <a:pt x="3369564" y="1234439"/>
                  </a:lnTo>
                  <a:lnTo>
                    <a:pt x="3390941" y="1230135"/>
                  </a:lnTo>
                  <a:lnTo>
                    <a:pt x="3408378" y="1218390"/>
                  </a:lnTo>
                  <a:lnTo>
                    <a:pt x="3420123" y="1200953"/>
                  </a:lnTo>
                  <a:lnTo>
                    <a:pt x="3424428" y="1179576"/>
                  </a:lnTo>
                  <a:lnTo>
                    <a:pt x="3424428" y="54863"/>
                  </a:lnTo>
                  <a:lnTo>
                    <a:pt x="3420123" y="33486"/>
                  </a:lnTo>
                  <a:lnTo>
                    <a:pt x="3408378" y="16049"/>
                  </a:lnTo>
                  <a:lnTo>
                    <a:pt x="3390941" y="4304"/>
                  </a:lnTo>
                  <a:lnTo>
                    <a:pt x="3369564" y="0"/>
                  </a:lnTo>
                  <a:close/>
                </a:path>
              </a:pathLst>
            </a:custGeom>
            <a:solidFill>
              <a:srgbClr val="F5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2366" y="1511046"/>
              <a:ext cx="3424554" cy="1234440"/>
            </a:xfrm>
            <a:custGeom>
              <a:avLst/>
              <a:gdLst/>
              <a:ahLst/>
              <a:cxnLst/>
              <a:rect l="l" t="t" r="r" b="b"/>
              <a:pathLst>
                <a:path w="3424554" h="1234439">
                  <a:moveTo>
                    <a:pt x="0" y="54863"/>
                  </a:moveTo>
                  <a:lnTo>
                    <a:pt x="4311" y="33486"/>
                  </a:lnTo>
                  <a:lnTo>
                    <a:pt x="16067" y="16049"/>
                  </a:lnTo>
                  <a:lnTo>
                    <a:pt x="33502" y="4304"/>
                  </a:lnTo>
                  <a:lnTo>
                    <a:pt x="54851" y="0"/>
                  </a:lnTo>
                  <a:lnTo>
                    <a:pt x="3369564" y="0"/>
                  </a:lnTo>
                  <a:lnTo>
                    <a:pt x="3390941" y="4304"/>
                  </a:lnTo>
                  <a:lnTo>
                    <a:pt x="3408378" y="16049"/>
                  </a:lnTo>
                  <a:lnTo>
                    <a:pt x="3420123" y="33486"/>
                  </a:lnTo>
                  <a:lnTo>
                    <a:pt x="3424428" y="54863"/>
                  </a:lnTo>
                  <a:lnTo>
                    <a:pt x="3424428" y="1179576"/>
                  </a:lnTo>
                  <a:lnTo>
                    <a:pt x="3420123" y="1200953"/>
                  </a:lnTo>
                  <a:lnTo>
                    <a:pt x="3408378" y="1218390"/>
                  </a:lnTo>
                  <a:lnTo>
                    <a:pt x="3390941" y="1230135"/>
                  </a:lnTo>
                  <a:lnTo>
                    <a:pt x="3369564" y="1234439"/>
                  </a:lnTo>
                  <a:lnTo>
                    <a:pt x="54851" y="1234439"/>
                  </a:lnTo>
                  <a:lnTo>
                    <a:pt x="33502" y="1230135"/>
                  </a:lnTo>
                  <a:lnTo>
                    <a:pt x="16067" y="1218390"/>
                  </a:lnTo>
                  <a:lnTo>
                    <a:pt x="4311" y="1200953"/>
                  </a:lnTo>
                  <a:lnTo>
                    <a:pt x="0" y="1179576"/>
                  </a:lnTo>
                  <a:lnTo>
                    <a:pt x="0" y="54863"/>
                  </a:lnTo>
                  <a:close/>
                </a:path>
              </a:pathLst>
            </a:custGeom>
            <a:ln w="13716">
              <a:solidFill>
                <a:srgbClr val="F5F6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42366" y="1511046"/>
            <a:ext cx="3424554" cy="1234440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198755">
              <a:lnSpc>
                <a:spcPct val="100000"/>
              </a:lnSpc>
              <a:spcBef>
                <a:spcPts val="1360"/>
              </a:spcBef>
            </a:pPr>
            <a:r>
              <a:rPr sz="1350" b="1" spc="-10" dirty="0">
                <a:solidFill>
                  <a:srgbClr val="1E2760"/>
                </a:solidFill>
                <a:latin typeface="Cambria"/>
                <a:cs typeface="Cambria"/>
              </a:rPr>
              <a:t>Python</a:t>
            </a:r>
            <a:endParaRPr sz="13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1350">
              <a:latin typeface="Cambria"/>
              <a:cs typeface="Cambria"/>
            </a:endParaRPr>
          </a:p>
          <a:p>
            <a:pPr marL="198755">
              <a:lnSpc>
                <a:spcPct val="100000"/>
              </a:lnSpc>
            </a:pP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Primary</a:t>
            </a:r>
            <a:r>
              <a:rPr sz="1100" spc="-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programming</a:t>
            </a:r>
            <a:r>
              <a:rPr sz="1100" spc="-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B2B2B"/>
                </a:solidFill>
                <a:latin typeface="Calibri"/>
                <a:cs typeface="Calibri"/>
              </a:rPr>
              <a:t>language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379976" y="1504188"/>
            <a:ext cx="3434079" cy="1248410"/>
            <a:chOff x="4379976" y="1504188"/>
            <a:chExt cx="3434079" cy="1248410"/>
          </a:xfrm>
        </p:grpSpPr>
        <p:sp>
          <p:nvSpPr>
            <p:cNvPr id="8" name="object 8"/>
            <p:cNvSpPr/>
            <p:nvPr/>
          </p:nvSpPr>
          <p:spPr>
            <a:xfrm>
              <a:off x="4386834" y="1511046"/>
              <a:ext cx="3420110" cy="1234440"/>
            </a:xfrm>
            <a:custGeom>
              <a:avLst/>
              <a:gdLst/>
              <a:ahLst/>
              <a:cxnLst/>
              <a:rect l="l" t="t" r="r" b="b"/>
              <a:pathLst>
                <a:path w="3420109" h="1234439">
                  <a:moveTo>
                    <a:pt x="3364991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1179576"/>
                  </a:lnTo>
                  <a:lnTo>
                    <a:pt x="4304" y="1200953"/>
                  </a:lnTo>
                  <a:lnTo>
                    <a:pt x="16049" y="1218390"/>
                  </a:lnTo>
                  <a:lnTo>
                    <a:pt x="33486" y="1230135"/>
                  </a:lnTo>
                  <a:lnTo>
                    <a:pt x="54863" y="1234439"/>
                  </a:lnTo>
                  <a:lnTo>
                    <a:pt x="3364991" y="1234439"/>
                  </a:lnTo>
                  <a:lnTo>
                    <a:pt x="3386369" y="1230135"/>
                  </a:lnTo>
                  <a:lnTo>
                    <a:pt x="3403806" y="1218390"/>
                  </a:lnTo>
                  <a:lnTo>
                    <a:pt x="3415551" y="1200953"/>
                  </a:lnTo>
                  <a:lnTo>
                    <a:pt x="3419856" y="1179576"/>
                  </a:lnTo>
                  <a:lnTo>
                    <a:pt x="3419856" y="54863"/>
                  </a:lnTo>
                  <a:lnTo>
                    <a:pt x="3415551" y="33486"/>
                  </a:lnTo>
                  <a:lnTo>
                    <a:pt x="3403806" y="16049"/>
                  </a:lnTo>
                  <a:lnTo>
                    <a:pt x="3386369" y="4304"/>
                  </a:lnTo>
                  <a:lnTo>
                    <a:pt x="3364991" y="0"/>
                  </a:lnTo>
                  <a:close/>
                </a:path>
              </a:pathLst>
            </a:custGeom>
            <a:solidFill>
              <a:srgbClr val="F5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86834" y="1511046"/>
              <a:ext cx="3420110" cy="1234440"/>
            </a:xfrm>
            <a:custGeom>
              <a:avLst/>
              <a:gdLst/>
              <a:ahLst/>
              <a:cxnLst/>
              <a:rect l="l" t="t" r="r" b="b"/>
              <a:pathLst>
                <a:path w="3420109" h="1234439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3364991" y="0"/>
                  </a:lnTo>
                  <a:lnTo>
                    <a:pt x="3386369" y="4304"/>
                  </a:lnTo>
                  <a:lnTo>
                    <a:pt x="3403806" y="16049"/>
                  </a:lnTo>
                  <a:lnTo>
                    <a:pt x="3415551" y="33486"/>
                  </a:lnTo>
                  <a:lnTo>
                    <a:pt x="3419856" y="54863"/>
                  </a:lnTo>
                  <a:lnTo>
                    <a:pt x="3419856" y="1179576"/>
                  </a:lnTo>
                  <a:lnTo>
                    <a:pt x="3415551" y="1200953"/>
                  </a:lnTo>
                  <a:lnTo>
                    <a:pt x="3403806" y="1218390"/>
                  </a:lnTo>
                  <a:lnTo>
                    <a:pt x="3386369" y="1230135"/>
                  </a:lnTo>
                  <a:lnTo>
                    <a:pt x="3364991" y="1234439"/>
                  </a:lnTo>
                  <a:lnTo>
                    <a:pt x="54863" y="1234439"/>
                  </a:lnTo>
                  <a:lnTo>
                    <a:pt x="33486" y="1230135"/>
                  </a:lnTo>
                  <a:lnTo>
                    <a:pt x="16049" y="1218390"/>
                  </a:lnTo>
                  <a:lnTo>
                    <a:pt x="4304" y="1200953"/>
                  </a:lnTo>
                  <a:lnTo>
                    <a:pt x="0" y="1179576"/>
                  </a:lnTo>
                  <a:lnTo>
                    <a:pt x="0" y="54863"/>
                  </a:lnTo>
                  <a:close/>
                </a:path>
              </a:pathLst>
            </a:custGeom>
            <a:ln w="13716">
              <a:solidFill>
                <a:srgbClr val="F5F6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386834" y="1511046"/>
            <a:ext cx="3420110" cy="1234440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198755">
              <a:lnSpc>
                <a:spcPct val="100000"/>
              </a:lnSpc>
              <a:spcBef>
                <a:spcPts val="1360"/>
              </a:spcBef>
            </a:pPr>
            <a:r>
              <a:rPr sz="1350" b="1" spc="-10" dirty="0">
                <a:solidFill>
                  <a:srgbClr val="1E2760"/>
                </a:solidFill>
                <a:latin typeface="Cambria"/>
                <a:cs typeface="Cambria"/>
              </a:rPr>
              <a:t>OpenCV</a:t>
            </a:r>
            <a:endParaRPr sz="13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1350">
              <a:latin typeface="Cambria"/>
              <a:cs typeface="Cambria"/>
            </a:endParaRPr>
          </a:p>
          <a:p>
            <a:pPr marL="198755">
              <a:lnSpc>
                <a:spcPct val="100000"/>
              </a:lnSpc>
            </a:pP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Image</a:t>
            </a:r>
            <a:r>
              <a:rPr sz="1100" spc="-6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B2B2B"/>
                </a:solidFill>
                <a:latin typeface="Calibri"/>
                <a:cs typeface="Calibri"/>
              </a:rPr>
              <a:t>reading,</a:t>
            </a:r>
            <a:r>
              <a:rPr sz="1100" spc="-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B2B2B"/>
                </a:solidFill>
                <a:latin typeface="Calibri"/>
                <a:cs typeface="Calibri"/>
              </a:rPr>
              <a:t>processing,</a:t>
            </a:r>
            <a:r>
              <a:rPr sz="1100" spc="-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detection</a:t>
            </a:r>
            <a:r>
              <a:rPr sz="1100" spc="7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&amp;</a:t>
            </a:r>
            <a:r>
              <a:rPr sz="1100" spc="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B2B2B"/>
                </a:solidFill>
                <a:latin typeface="Calibri"/>
                <a:cs typeface="Calibri"/>
              </a:rPr>
              <a:t>recognition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119871" y="1504188"/>
            <a:ext cx="3438525" cy="1248410"/>
            <a:chOff x="8119871" y="1504188"/>
            <a:chExt cx="3438525" cy="1248410"/>
          </a:xfrm>
        </p:grpSpPr>
        <p:sp>
          <p:nvSpPr>
            <p:cNvPr id="12" name="object 12"/>
            <p:cNvSpPr/>
            <p:nvPr/>
          </p:nvSpPr>
          <p:spPr>
            <a:xfrm>
              <a:off x="8126729" y="1511046"/>
              <a:ext cx="3424554" cy="1234440"/>
            </a:xfrm>
            <a:custGeom>
              <a:avLst/>
              <a:gdLst/>
              <a:ahLst/>
              <a:cxnLst/>
              <a:rect l="l" t="t" r="r" b="b"/>
              <a:pathLst>
                <a:path w="3424554" h="1234439">
                  <a:moveTo>
                    <a:pt x="3369564" y="0"/>
                  </a:moveTo>
                  <a:lnTo>
                    <a:pt x="54864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1179576"/>
                  </a:lnTo>
                  <a:lnTo>
                    <a:pt x="4304" y="1200953"/>
                  </a:lnTo>
                  <a:lnTo>
                    <a:pt x="16049" y="1218390"/>
                  </a:lnTo>
                  <a:lnTo>
                    <a:pt x="33486" y="1230135"/>
                  </a:lnTo>
                  <a:lnTo>
                    <a:pt x="54864" y="1234439"/>
                  </a:lnTo>
                  <a:lnTo>
                    <a:pt x="3369564" y="1234439"/>
                  </a:lnTo>
                  <a:lnTo>
                    <a:pt x="3390941" y="1230135"/>
                  </a:lnTo>
                  <a:lnTo>
                    <a:pt x="3408378" y="1218390"/>
                  </a:lnTo>
                  <a:lnTo>
                    <a:pt x="3420123" y="1200953"/>
                  </a:lnTo>
                  <a:lnTo>
                    <a:pt x="3424428" y="1179576"/>
                  </a:lnTo>
                  <a:lnTo>
                    <a:pt x="3424428" y="54863"/>
                  </a:lnTo>
                  <a:lnTo>
                    <a:pt x="3420123" y="33486"/>
                  </a:lnTo>
                  <a:lnTo>
                    <a:pt x="3408378" y="16049"/>
                  </a:lnTo>
                  <a:lnTo>
                    <a:pt x="3390941" y="4304"/>
                  </a:lnTo>
                  <a:lnTo>
                    <a:pt x="3369564" y="0"/>
                  </a:lnTo>
                  <a:close/>
                </a:path>
              </a:pathLst>
            </a:custGeom>
            <a:solidFill>
              <a:srgbClr val="F5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126729" y="1511046"/>
              <a:ext cx="3424554" cy="1234440"/>
            </a:xfrm>
            <a:custGeom>
              <a:avLst/>
              <a:gdLst/>
              <a:ahLst/>
              <a:cxnLst/>
              <a:rect l="l" t="t" r="r" b="b"/>
              <a:pathLst>
                <a:path w="3424554" h="1234439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4" y="0"/>
                  </a:lnTo>
                  <a:lnTo>
                    <a:pt x="3369564" y="0"/>
                  </a:lnTo>
                  <a:lnTo>
                    <a:pt x="3390941" y="4304"/>
                  </a:lnTo>
                  <a:lnTo>
                    <a:pt x="3408378" y="16049"/>
                  </a:lnTo>
                  <a:lnTo>
                    <a:pt x="3420123" y="33486"/>
                  </a:lnTo>
                  <a:lnTo>
                    <a:pt x="3424428" y="54863"/>
                  </a:lnTo>
                  <a:lnTo>
                    <a:pt x="3424428" y="1179576"/>
                  </a:lnTo>
                  <a:lnTo>
                    <a:pt x="3420123" y="1200953"/>
                  </a:lnTo>
                  <a:lnTo>
                    <a:pt x="3408378" y="1218390"/>
                  </a:lnTo>
                  <a:lnTo>
                    <a:pt x="3390941" y="1230135"/>
                  </a:lnTo>
                  <a:lnTo>
                    <a:pt x="3369564" y="1234439"/>
                  </a:lnTo>
                  <a:lnTo>
                    <a:pt x="54864" y="1234439"/>
                  </a:lnTo>
                  <a:lnTo>
                    <a:pt x="33486" y="1230135"/>
                  </a:lnTo>
                  <a:lnTo>
                    <a:pt x="16049" y="1218390"/>
                  </a:lnTo>
                  <a:lnTo>
                    <a:pt x="4304" y="1200953"/>
                  </a:lnTo>
                  <a:lnTo>
                    <a:pt x="0" y="1179576"/>
                  </a:lnTo>
                  <a:lnTo>
                    <a:pt x="0" y="54863"/>
                  </a:lnTo>
                  <a:close/>
                </a:path>
              </a:pathLst>
            </a:custGeom>
            <a:ln w="13716">
              <a:solidFill>
                <a:srgbClr val="F5F6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126730" y="1511046"/>
            <a:ext cx="3424554" cy="1234440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203200">
              <a:lnSpc>
                <a:spcPct val="100000"/>
              </a:lnSpc>
              <a:spcBef>
                <a:spcPts val="1360"/>
              </a:spcBef>
            </a:pPr>
            <a:r>
              <a:rPr sz="1350" b="1" dirty="0">
                <a:solidFill>
                  <a:srgbClr val="1E2760"/>
                </a:solidFill>
                <a:latin typeface="Cambria"/>
                <a:cs typeface="Cambria"/>
              </a:rPr>
              <a:t>Haar</a:t>
            </a:r>
            <a:r>
              <a:rPr sz="1350" b="1" spc="-20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350" b="1" dirty="0">
                <a:solidFill>
                  <a:srgbClr val="1E2760"/>
                </a:solidFill>
                <a:latin typeface="Cambria"/>
                <a:cs typeface="Cambria"/>
              </a:rPr>
              <a:t>Cascade</a:t>
            </a:r>
            <a:r>
              <a:rPr sz="1350" b="1" spc="-70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350" b="1" spc="-10" dirty="0">
                <a:solidFill>
                  <a:srgbClr val="1E2760"/>
                </a:solidFill>
                <a:latin typeface="Cambria"/>
                <a:cs typeface="Cambria"/>
              </a:rPr>
              <a:t>Classifier</a:t>
            </a:r>
            <a:endParaRPr sz="13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1350">
              <a:latin typeface="Cambria"/>
              <a:cs typeface="Cambria"/>
            </a:endParaRPr>
          </a:p>
          <a:p>
            <a:pPr marL="203200">
              <a:lnSpc>
                <a:spcPct val="100000"/>
              </a:lnSpc>
            </a:pP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Detects</a:t>
            </a:r>
            <a:r>
              <a:rPr sz="1100" spc="-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1100" spc="-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location</a:t>
            </a:r>
            <a:r>
              <a:rPr sz="1100" spc="-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of</a:t>
            </a:r>
            <a:r>
              <a:rPr sz="1100" spc="-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faces</a:t>
            </a:r>
            <a:r>
              <a:rPr sz="1100" spc="-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in</a:t>
            </a:r>
            <a:r>
              <a:rPr sz="1100" spc="-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B2B2B"/>
                </a:solidFill>
                <a:latin typeface="Calibri"/>
                <a:cs typeface="Calibri"/>
              </a:rPr>
              <a:t>images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35508" y="3058667"/>
            <a:ext cx="3438525" cy="1248410"/>
            <a:chOff x="635508" y="3058667"/>
            <a:chExt cx="3438525" cy="1248410"/>
          </a:xfrm>
        </p:grpSpPr>
        <p:sp>
          <p:nvSpPr>
            <p:cNvPr id="16" name="object 16"/>
            <p:cNvSpPr/>
            <p:nvPr/>
          </p:nvSpPr>
          <p:spPr>
            <a:xfrm>
              <a:off x="642366" y="3065525"/>
              <a:ext cx="3424554" cy="1234440"/>
            </a:xfrm>
            <a:custGeom>
              <a:avLst/>
              <a:gdLst/>
              <a:ahLst/>
              <a:cxnLst/>
              <a:rect l="l" t="t" r="r" b="b"/>
              <a:pathLst>
                <a:path w="3424554" h="1234439">
                  <a:moveTo>
                    <a:pt x="3369564" y="0"/>
                  </a:moveTo>
                  <a:lnTo>
                    <a:pt x="54851" y="0"/>
                  </a:lnTo>
                  <a:lnTo>
                    <a:pt x="33502" y="4304"/>
                  </a:lnTo>
                  <a:lnTo>
                    <a:pt x="16067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1179576"/>
                  </a:lnTo>
                  <a:lnTo>
                    <a:pt x="4311" y="1200953"/>
                  </a:lnTo>
                  <a:lnTo>
                    <a:pt x="16067" y="1218390"/>
                  </a:lnTo>
                  <a:lnTo>
                    <a:pt x="33502" y="1230135"/>
                  </a:lnTo>
                  <a:lnTo>
                    <a:pt x="54851" y="1234440"/>
                  </a:lnTo>
                  <a:lnTo>
                    <a:pt x="3369564" y="1234440"/>
                  </a:lnTo>
                  <a:lnTo>
                    <a:pt x="3390941" y="1230135"/>
                  </a:lnTo>
                  <a:lnTo>
                    <a:pt x="3408378" y="1218390"/>
                  </a:lnTo>
                  <a:lnTo>
                    <a:pt x="3420123" y="1200953"/>
                  </a:lnTo>
                  <a:lnTo>
                    <a:pt x="3424428" y="1179576"/>
                  </a:lnTo>
                  <a:lnTo>
                    <a:pt x="3424428" y="54863"/>
                  </a:lnTo>
                  <a:lnTo>
                    <a:pt x="3420123" y="33486"/>
                  </a:lnTo>
                  <a:lnTo>
                    <a:pt x="3408378" y="16049"/>
                  </a:lnTo>
                  <a:lnTo>
                    <a:pt x="3390941" y="4304"/>
                  </a:lnTo>
                  <a:lnTo>
                    <a:pt x="3369564" y="0"/>
                  </a:lnTo>
                  <a:close/>
                </a:path>
              </a:pathLst>
            </a:custGeom>
            <a:solidFill>
              <a:srgbClr val="F5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2366" y="3065525"/>
              <a:ext cx="3424554" cy="1234440"/>
            </a:xfrm>
            <a:custGeom>
              <a:avLst/>
              <a:gdLst/>
              <a:ahLst/>
              <a:cxnLst/>
              <a:rect l="l" t="t" r="r" b="b"/>
              <a:pathLst>
                <a:path w="3424554" h="1234439">
                  <a:moveTo>
                    <a:pt x="0" y="54863"/>
                  </a:moveTo>
                  <a:lnTo>
                    <a:pt x="4311" y="33486"/>
                  </a:lnTo>
                  <a:lnTo>
                    <a:pt x="16067" y="16049"/>
                  </a:lnTo>
                  <a:lnTo>
                    <a:pt x="33502" y="4304"/>
                  </a:lnTo>
                  <a:lnTo>
                    <a:pt x="54851" y="0"/>
                  </a:lnTo>
                  <a:lnTo>
                    <a:pt x="3369564" y="0"/>
                  </a:lnTo>
                  <a:lnTo>
                    <a:pt x="3390941" y="4304"/>
                  </a:lnTo>
                  <a:lnTo>
                    <a:pt x="3408378" y="16049"/>
                  </a:lnTo>
                  <a:lnTo>
                    <a:pt x="3420123" y="33486"/>
                  </a:lnTo>
                  <a:lnTo>
                    <a:pt x="3424428" y="54863"/>
                  </a:lnTo>
                  <a:lnTo>
                    <a:pt x="3424428" y="1179576"/>
                  </a:lnTo>
                  <a:lnTo>
                    <a:pt x="3420123" y="1200953"/>
                  </a:lnTo>
                  <a:lnTo>
                    <a:pt x="3408378" y="1218390"/>
                  </a:lnTo>
                  <a:lnTo>
                    <a:pt x="3390941" y="1230135"/>
                  </a:lnTo>
                  <a:lnTo>
                    <a:pt x="3369564" y="1234440"/>
                  </a:lnTo>
                  <a:lnTo>
                    <a:pt x="54851" y="1234440"/>
                  </a:lnTo>
                  <a:lnTo>
                    <a:pt x="33502" y="1230135"/>
                  </a:lnTo>
                  <a:lnTo>
                    <a:pt x="16067" y="1218390"/>
                  </a:lnTo>
                  <a:lnTo>
                    <a:pt x="4311" y="1200953"/>
                  </a:lnTo>
                  <a:lnTo>
                    <a:pt x="0" y="1179576"/>
                  </a:lnTo>
                  <a:lnTo>
                    <a:pt x="0" y="54863"/>
                  </a:lnTo>
                  <a:close/>
                </a:path>
              </a:pathLst>
            </a:custGeom>
            <a:ln w="13716">
              <a:solidFill>
                <a:srgbClr val="F5F6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42366" y="3065526"/>
            <a:ext cx="3424554" cy="1234440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 marL="198755">
              <a:lnSpc>
                <a:spcPct val="100000"/>
              </a:lnSpc>
              <a:spcBef>
                <a:spcPts val="1365"/>
              </a:spcBef>
            </a:pPr>
            <a:r>
              <a:rPr sz="1350" b="1" dirty="0">
                <a:solidFill>
                  <a:srgbClr val="1E2760"/>
                </a:solidFill>
                <a:latin typeface="Cambria"/>
                <a:cs typeface="Cambria"/>
              </a:rPr>
              <a:t>LBPH</a:t>
            </a:r>
            <a:r>
              <a:rPr sz="1350" b="1" spc="-45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350" b="1" spc="-10" dirty="0">
                <a:solidFill>
                  <a:srgbClr val="1E2760"/>
                </a:solidFill>
                <a:latin typeface="Cambria"/>
                <a:cs typeface="Cambria"/>
              </a:rPr>
              <a:t>Recognizer</a:t>
            </a:r>
            <a:endParaRPr sz="13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1350">
              <a:latin typeface="Cambria"/>
              <a:cs typeface="Cambria"/>
            </a:endParaRPr>
          </a:p>
          <a:p>
            <a:pPr marL="198755">
              <a:lnSpc>
                <a:spcPct val="100000"/>
              </a:lnSpc>
            </a:pP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Trains</a:t>
            </a:r>
            <a:r>
              <a:rPr sz="1100" spc="-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sz="1100" spc="-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predicts facial</a:t>
            </a:r>
            <a:r>
              <a:rPr sz="1100" spc="-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B2B2B"/>
                </a:solidFill>
                <a:latin typeface="Calibri"/>
                <a:cs typeface="Calibri"/>
              </a:rPr>
              <a:t>identity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379976" y="3058667"/>
            <a:ext cx="3434079" cy="1248410"/>
            <a:chOff x="4379976" y="3058667"/>
            <a:chExt cx="3434079" cy="1248410"/>
          </a:xfrm>
        </p:grpSpPr>
        <p:sp>
          <p:nvSpPr>
            <p:cNvPr id="20" name="object 20"/>
            <p:cNvSpPr/>
            <p:nvPr/>
          </p:nvSpPr>
          <p:spPr>
            <a:xfrm>
              <a:off x="4386834" y="3065525"/>
              <a:ext cx="3420110" cy="1234440"/>
            </a:xfrm>
            <a:custGeom>
              <a:avLst/>
              <a:gdLst/>
              <a:ahLst/>
              <a:cxnLst/>
              <a:rect l="l" t="t" r="r" b="b"/>
              <a:pathLst>
                <a:path w="3420109" h="1234439">
                  <a:moveTo>
                    <a:pt x="3364991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1179576"/>
                  </a:lnTo>
                  <a:lnTo>
                    <a:pt x="4304" y="1200953"/>
                  </a:lnTo>
                  <a:lnTo>
                    <a:pt x="16049" y="1218390"/>
                  </a:lnTo>
                  <a:lnTo>
                    <a:pt x="33486" y="1230135"/>
                  </a:lnTo>
                  <a:lnTo>
                    <a:pt x="54863" y="1234440"/>
                  </a:lnTo>
                  <a:lnTo>
                    <a:pt x="3364991" y="1234440"/>
                  </a:lnTo>
                  <a:lnTo>
                    <a:pt x="3386369" y="1230135"/>
                  </a:lnTo>
                  <a:lnTo>
                    <a:pt x="3403806" y="1218390"/>
                  </a:lnTo>
                  <a:lnTo>
                    <a:pt x="3415551" y="1200953"/>
                  </a:lnTo>
                  <a:lnTo>
                    <a:pt x="3419856" y="1179576"/>
                  </a:lnTo>
                  <a:lnTo>
                    <a:pt x="3419856" y="54863"/>
                  </a:lnTo>
                  <a:lnTo>
                    <a:pt x="3415551" y="33486"/>
                  </a:lnTo>
                  <a:lnTo>
                    <a:pt x="3403806" y="16049"/>
                  </a:lnTo>
                  <a:lnTo>
                    <a:pt x="3386369" y="4304"/>
                  </a:lnTo>
                  <a:lnTo>
                    <a:pt x="3364991" y="0"/>
                  </a:lnTo>
                  <a:close/>
                </a:path>
              </a:pathLst>
            </a:custGeom>
            <a:solidFill>
              <a:srgbClr val="F5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386834" y="3065525"/>
              <a:ext cx="3420110" cy="1234440"/>
            </a:xfrm>
            <a:custGeom>
              <a:avLst/>
              <a:gdLst/>
              <a:ahLst/>
              <a:cxnLst/>
              <a:rect l="l" t="t" r="r" b="b"/>
              <a:pathLst>
                <a:path w="3420109" h="1234439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3364991" y="0"/>
                  </a:lnTo>
                  <a:lnTo>
                    <a:pt x="3386369" y="4304"/>
                  </a:lnTo>
                  <a:lnTo>
                    <a:pt x="3403806" y="16049"/>
                  </a:lnTo>
                  <a:lnTo>
                    <a:pt x="3415551" y="33486"/>
                  </a:lnTo>
                  <a:lnTo>
                    <a:pt x="3419856" y="54863"/>
                  </a:lnTo>
                  <a:lnTo>
                    <a:pt x="3419856" y="1179576"/>
                  </a:lnTo>
                  <a:lnTo>
                    <a:pt x="3415551" y="1200953"/>
                  </a:lnTo>
                  <a:lnTo>
                    <a:pt x="3403806" y="1218390"/>
                  </a:lnTo>
                  <a:lnTo>
                    <a:pt x="3386369" y="1230135"/>
                  </a:lnTo>
                  <a:lnTo>
                    <a:pt x="3364991" y="1234440"/>
                  </a:lnTo>
                  <a:lnTo>
                    <a:pt x="54863" y="1234440"/>
                  </a:lnTo>
                  <a:lnTo>
                    <a:pt x="33486" y="1230135"/>
                  </a:lnTo>
                  <a:lnTo>
                    <a:pt x="16049" y="1218390"/>
                  </a:lnTo>
                  <a:lnTo>
                    <a:pt x="4304" y="1200953"/>
                  </a:lnTo>
                  <a:lnTo>
                    <a:pt x="0" y="1179576"/>
                  </a:lnTo>
                  <a:lnTo>
                    <a:pt x="0" y="54863"/>
                  </a:lnTo>
                  <a:close/>
                </a:path>
              </a:pathLst>
            </a:custGeom>
            <a:ln w="13716">
              <a:solidFill>
                <a:srgbClr val="F5F6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386834" y="3065526"/>
            <a:ext cx="3420110" cy="1234440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 marL="198755">
              <a:lnSpc>
                <a:spcPct val="100000"/>
              </a:lnSpc>
              <a:spcBef>
                <a:spcPts val="1365"/>
              </a:spcBef>
            </a:pPr>
            <a:r>
              <a:rPr sz="1350" b="1" spc="-10" dirty="0">
                <a:solidFill>
                  <a:srgbClr val="1E2760"/>
                </a:solidFill>
                <a:latin typeface="Cambria"/>
                <a:cs typeface="Cambria"/>
              </a:rPr>
              <a:t>NumPy</a:t>
            </a:r>
            <a:endParaRPr sz="13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1350">
              <a:latin typeface="Cambria"/>
              <a:cs typeface="Cambria"/>
            </a:endParaRPr>
          </a:p>
          <a:p>
            <a:pPr marL="198755">
              <a:lnSpc>
                <a:spcPct val="100000"/>
              </a:lnSpc>
            </a:pP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Numerical</a:t>
            </a:r>
            <a:r>
              <a:rPr sz="1100" spc="-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operations</a:t>
            </a:r>
            <a:r>
              <a:rPr sz="1100" spc="-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&amp;</a:t>
            </a:r>
            <a:r>
              <a:rPr sz="1100" spc="-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label</a:t>
            </a:r>
            <a:r>
              <a:rPr sz="1100" spc="-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B2B2B"/>
                </a:solidFill>
                <a:latin typeface="Calibri"/>
                <a:cs typeface="Calibri"/>
              </a:rPr>
              <a:t>arrays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119871" y="3058667"/>
            <a:ext cx="3438525" cy="1248410"/>
            <a:chOff x="8119871" y="3058667"/>
            <a:chExt cx="3438525" cy="1248410"/>
          </a:xfrm>
        </p:grpSpPr>
        <p:sp>
          <p:nvSpPr>
            <p:cNvPr id="24" name="object 24"/>
            <p:cNvSpPr/>
            <p:nvPr/>
          </p:nvSpPr>
          <p:spPr>
            <a:xfrm>
              <a:off x="8126729" y="3065525"/>
              <a:ext cx="3424554" cy="1234440"/>
            </a:xfrm>
            <a:custGeom>
              <a:avLst/>
              <a:gdLst/>
              <a:ahLst/>
              <a:cxnLst/>
              <a:rect l="l" t="t" r="r" b="b"/>
              <a:pathLst>
                <a:path w="3424554" h="1234439">
                  <a:moveTo>
                    <a:pt x="3369564" y="0"/>
                  </a:moveTo>
                  <a:lnTo>
                    <a:pt x="54864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1179576"/>
                  </a:lnTo>
                  <a:lnTo>
                    <a:pt x="4304" y="1200953"/>
                  </a:lnTo>
                  <a:lnTo>
                    <a:pt x="16049" y="1218390"/>
                  </a:lnTo>
                  <a:lnTo>
                    <a:pt x="33486" y="1230135"/>
                  </a:lnTo>
                  <a:lnTo>
                    <a:pt x="54864" y="1234440"/>
                  </a:lnTo>
                  <a:lnTo>
                    <a:pt x="3369564" y="1234440"/>
                  </a:lnTo>
                  <a:lnTo>
                    <a:pt x="3390941" y="1230135"/>
                  </a:lnTo>
                  <a:lnTo>
                    <a:pt x="3408378" y="1218390"/>
                  </a:lnTo>
                  <a:lnTo>
                    <a:pt x="3420123" y="1200953"/>
                  </a:lnTo>
                  <a:lnTo>
                    <a:pt x="3424428" y="1179576"/>
                  </a:lnTo>
                  <a:lnTo>
                    <a:pt x="3424428" y="54863"/>
                  </a:lnTo>
                  <a:lnTo>
                    <a:pt x="3420123" y="33486"/>
                  </a:lnTo>
                  <a:lnTo>
                    <a:pt x="3408378" y="16049"/>
                  </a:lnTo>
                  <a:lnTo>
                    <a:pt x="3390941" y="4304"/>
                  </a:lnTo>
                  <a:lnTo>
                    <a:pt x="3369564" y="0"/>
                  </a:lnTo>
                  <a:close/>
                </a:path>
              </a:pathLst>
            </a:custGeom>
            <a:solidFill>
              <a:srgbClr val="F5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126729" y="3065525"/>
              <a:ext cx="3424554" cy="1234440"/>
            </a:xfrm>
            <a:custGeom>
              <a:avLst/>
              <a:gdLst/>
              <a:ahLst/>
              <a:cxnLst/>
              <a:rect l="l" t="t" r="r" b="b"/>
              <a:pathLst>
                <a:path w="3424554" h="1234439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4" y="0"/>
                  </a:lnTo>
                  <a:lnTo>
                    <a:pt x="3369564" y="0"/>
                  </a:lnTo>
                  <a:lnTo>
                    <a:pt x="3390941" y="4304"/>
                  </a:lnTo>
                  <a:lnTo>
                    <a:pt x="3408378" y="16049"/>
                  </a:lnTo>
                  <a:lnTo>
                    <a:pt x="3420123" y="33486"/>
                  </a:lnTo>
                  <a:lnTo>
                    <a:pt x="3424428" y="54863"/>
                  </a:lnTo>
                  <a:lnTo>
                    <a:pt x="3424428" y="1179576"/>
                  </a:lnTo>
                  <a:lnTo>
                    <a:pt x="3420123" y="1200953"/>
                  </a:lnTo>
                  <a:lnTo>
                    <a:pt x="3408378" y="1218390"/>
                  </a:lnTo>
                  <a:lnTo>
                    <a:pt x="3390941" y="1230135"/>
                  </a:lnTo>
                  <a:lnTo>
                    <a:pt x="3369564" y="1234440"/>
                  </a:lnTo>
                  <a:lnTo>
                    <a:pt x="54864" y="1234440"/>
                  </a:lnTo>
                  <a:lnTo>
                    <a:pt x="33486" y="1230135"/>
                  </a:lnTo>
                  <a:lnTo>
                    <a:pt x="16049" y="1218390"/>
                  </a:lnTo>
                  <a:lnTo>
                    <a:pt x="4304" y="1200953"/>
                  </a:lnTo>
                  <a:lnTo>
                    <a:pt x="0" y="1179576"/>
                  </a:lnTo>
                  <a:lnTo>
                    <a:pt x="0" y="54863"/>
                  </a:lnTo>
                  <a:close/>
                </a:path>
              </a:pathLst>
            </a:custGeom>
            <a:ln w="13716">
              <a:solidFill>
                <a:srgbClr val="F5F6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126730" y="3065526"/>
            <a:ext cx="3424554" cy="1234440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 marL="203200">
              <a:lnSpc>
                <a:spcPct val="100000"/>
              </a:lnSpc>
              <a:spcBef>
                <a:spcPts val="1365"/>
              </a:spcBef>
            </a:pPr>
            <a:r>
              <a:rPr sz="1350" b="1" spc="-10" dirty="0">
                <a:solidFill>
                  <a:srgbClr val="1E2760"/>
                </a:solidFill>
                <a:latin typeface="Cambria"/>
                <a:cs typeface="Cambria"/>
              </a:rPr>
              <a:t>Pandas</a:t>
            </a:r>
            <a:endParaRPr sz="13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1350">
              <a:latin typeface="Cambria"/>
              <a:cs typeface="Cambria"/>
            </a:endParaRPr>
          </a:p>
          <a:p>
            <a:pPr marL="203200">
              <a:lnSpc>
                <a:spcPct val="100000"/>
              </a:lnSpc>
            </a:pP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Reads</a:t>
            </a:r>
            <a:r>
              <a:rPr sz="1100" spc="-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1100" spc="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CSV</a:t>
            </a:r>
            <a:r>
              <a:rPr sz="1100" spc="-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training</a:t>
            </a:r>
            <a:r>
              <a:rPr sz="1100" spc="-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B2B2B"/>
                </a:solidFill>
                <a:latin typeface="Calibri"/>
                <a:cs typeface="Calibri"/>
              </a:rPr>
              <a:t>information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35508" y="4613147"/>
            <a:ext cx="3438525" cy="1248410"/>
            <a:chOff x="635508" y="4613147"/>
            <a:chExt cx="3438525" cy="1248410"/>
          </a:xfrm>
        </p:grpSpPr>
        <p:sp>
          <p:nvSpPr>
            <p:cNvPr id="28" name="object 28"/>
            <p:cNvSpPr/>
            <p:nvPr/>
          </p:nvSpPr>
          <p:spPr>
            <a:xfrm>
              <a:off x="642366" y="4620005"/>
              <a:ext cx="3424554" cy="1234440"/>
            </a:xfrm>
            <a:custGeom>
              <a:avLst/>
              <a:gdLst/>
              <a:ahLst/>
              <a:cxnLst/>
              <a:rect l="l" t="t" r="r" b="b"/>
              <a:pathLst>
                <a:path w="3424554" h="1234439">
                  <a:moveTo>
                    <a:pt x="3369564" y="0"/>
                  </a:moveTo>
                  <a:lnTo>
                    <a:pt x="54851" y="0"/>
                  </a:lnTo>
                  <a:lnTo>
                    <a:pt x="33502" y="4304"/>
                  </a:lnTo>
                  <a:lnTo>
                    <a:pt x="16067" y="16049"/>
                  </a:lnTo>
                  <a:lnTo>
                    <a:pt x="4311" y="33486"/>
                  </a:lnTo>
                  <a:lnTo>
                    <a:pt x="0" y="54864"/>
                  </a:lnTo>
                  <a:lnTo>
                    <a:pt x="0" y="1179588"/>
                  </a:lnTo>
                  <a:lnTo>
                    <a:pt x="4311" y="1200937"/>
                  </a:lnTo>
                  <a:lnTo>
                    <a:pt x="16067" y="1218372"/>
                  </a:lnTo>
                  <a:lnTo>
                    <a:pt x="33502" y="1230128"/>
                  </a:lnTo>
                  <a:lnTo>
                    <a:pt x="54851" y="1234440"/>
                  </a:lnTo>
                  <a:lnTo>
                    <a:pt x="3369564" y="1234440"/>
                  </a:lnTo>
                  <a:lnTo>
                    <a:pt x="3390941" y="1230128"/>
                  </a:lnTo>
                  <a:lnTo>
                    <a:pt x="3408378" y="1218372"/>
                  </a:lnTo>
                  <a:lnTo>
                    <a:pt x="3420123" y="1200937"/>
                  </a:lnTo>
                  <a:lnTo>
                    <a:pt x="3424428" y="1179588"/>
                  </a:lnTo>
                  <a:lnTo>
                    <a:pt x="3424428" y="54864"/>
                  </a:lnTo>
                  <a:lnTo>
                    <a:pt x="3420123" y="33486"/>
                  </a:lnTo>
                  <a:lnTo>
                    <a:pt x="3408378" y="16049"/>
                  </a:lnTo>
                  <a:lnTo>
                    <a:pt x="3390941" y="4304"/>
                  </a:lnTo>
                  <a:lnTo>
                    <a:pt x="3369564" y="0"/>
                  </a:lnTo>
                  <a:close/>
                </a:path>
              </a:pathLst>
            </a:custGeom>
            <a:solidFill>
              <a:srgbClr val="F5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42366" y="4620005"/>
              <a:ext cx="3424554" cy="1234440"/>
            </a:xfrm>
            <a:custGeom>
              <a:avLst/>
              <a:gdLst/>
              <a:ahLst/>
              <a:cxnLst/>
              <a:rect l="l" t="t" r="r" b="b"/>
              <a:pathLst>
                <a:path w="3424554" h="1234439">
                  <a:moveTo>
                    <a:pt x="0" y="54864"/>
                  </a:moveTo>
                  <a:lnTo>
                    <a:pt x="4311" y="33486"/>
                  </a:lnTo>
                  <a:lnTo>
                    <a:pt x="16067" y="16049"/>
                  </a:lnTo>
                  <a:lnTo>
                    <a:pt x="33502" y="4304"/>
                  </a:lnTo>
                  <a:lnTo>
                    <a:pt x="54851" y="0"/>
                  </a:lnTo>
                  <a:lnTo>
                    <a:pt x="3369564" y="0"/>
                  </a:lnTo>
                  <a:lnTo>
                    <a:pt x="3390941" y="4304"/>
                  </a:lnTo>
                  <a:lnTo>
                    <a:pt x="3408378" y="16049"/>
                  </a:lnTo>
                  <a:lnTo>
                    <a:pt x="3420123" y="33486"/>
                  </a:lnTo>
                  <a:lnTo>
                    <a:pt x="3424428" y="54864"/>
                  </a:lnTo>
                  <a:lnTo>
                    <a:pt x="3424428" y="1179588"/>
                  </a:lnTo>
                  <a:lnTo>
                    <a:pt x="3420123" y="1200937"/>
                  </a:lnTo>
                  <a:lnTo>
                    <a:pt x="3408378" y="1218372"/>
                  </a:lnTo>
                  <a:lnTo>
                    <a:pt x="3390941" y="1230128"/>
                  </a:lnTo>
                  <a:lnTo>
                    <a:pt x="3369564" y="1234440"/>
                  </a:lnTo>
                  <a:lnTo>
                    <a:pt x="54851" y="1234440"/>
                  </a:lnTo>
                  <a:lnTo>
                    <a:pt x="33502" y="1230128"/>
                  </a:lnTo>
                  <a:lnTo>
                    <a:pt x="16067" y="1218372"/>
                  </a:lnTo>
                  <a:lnTo>
                    <a:pt x="4311" y="1200937"/>
                  </a:lnTo>
                  <a:lnTo>
                    <a:pt x="0" y="1179588"/>
                  </a:lnTo>
                  <a:lnTo>
                    <a:pt x="0" y="54864"/>
                  </a:lnTo>
                  <a:close/>
                </a:path>
              </a:pathLst>
            </a:custGeom>
            <a:ln w="13716">
              <a:solidFill>
                <a:srgbClr val="F5F6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42366" y="4620005"/>
            <a:ext cx="3424554" cy="1234440"/>
          </a:xfrm>
          <a:prstGeom prst="rect">
            <a:avLst/>
          </a:prstGeom>
        </p:spPr>
        <p:txBody>
          <a:bodyPr vert="horz" wrap="square" lIns="0" tIns="174625" rIns="0" bIns="0" rtlCol="0">
            <a:spAutoFit/>
          </a:bodyPr>
          <a:lstStyle/>
          <a:p>
            <a:pPr marL="198755">
              <a:lnSpc>
                <a:spcPct val="100000"/>
              </a:lnSpc>
              <a:spcBef>
                <a:spcPts val="1375"/>
              </a:spcBef>
            </a:pPr>
            <a:r>
              <a:rPr sz="1350" b="1" spc="-25" dirty="0">
                <a:solidFill>
                  <a:srgbClr val="1E2760"/>
                </a:solidFill>
                <a:latin typeface="Cambria"/>
                <a:cs typeface="Cambria"/>
              </a:rPr>
              <a:t>CSV</a:t>
            </a:r>
            <a:endParaRPr sz="13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1350">
              <a:latin typeface="Cambria"/>
              <a:cs typeface="Cambria"/>
            </a:endParaRPr>
          </a:p>
          <a:p>
            <a:pPr marL="198755">
              <a:lnSpc>
                <a:spcPct val="100000"/>
              </a:lnSpc>
            </a:pP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Stores</a:t>
            </a:r>
            <a:r>
              <a:rPr sz="1100" spc="-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training</a:t>
            </a:r>
            <a:r>
              <a:rPr sz="1100" spc="-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image</a:t>
            </a:r>
            <a:r>
              <a:rPr sz="1100" spc="-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paths and</a:t>
            </a:r>
            <a:r>
              <a:rPr sz="1100" spc="-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B2B2B"/>
                </a:solidFill>
                <a:latin typeface="Calibri"/>
                <a:cs typeface="Calibri"/>
              </a:rPr>
              <a:t>labels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379976" y="4613147"/>
            <a:ext cx="3434079" cy="1248410"/>
            <a:chOff x="4379976" y="4613147"/>
            <a:chExt cx="3434079" cy="1248410"/>
          </a:xfrm>
        </p:grpSpPr>
        <p:sp>
          <p:nvSpPr>
            <p:cNvPr id="32" name="object 32"/>
            <p:cNvSpPr/>
            <p:nvPr/>
          </p:nvSpPr>
          <p:spPr>
            <a:xfrm>
              <a:off x="4386834" y="4620005"/>
              <a:ext cx="3420110" cy="1234440"/>
            </a:xfrm>
            <a:custGeom>
              <a:avLst/>
              <a:gdLst/>
              <a:ahLst/>
              <a:cxnLst/>
              <a:rect l="l" t="t" r="r" b="b"/>
              <a:pathLst>
                <a:path w="3420109" h="1234439">
                  <a:moveTo>
                    <a:pt x="3364991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4"/>
                  </a:lnTo>
                  <a:lnTo>
                    <a:pt x="0" y="1179576"/>
                  </a:lnTo>
                  <a:lnTo>
                    <a:pt x="4304" y="1200932"/>
                  </a:lnTo>
                  <a:lnTo>
                    <a:pt x="16049" y="1218371"/>
                  </a:lnTo>
                  <a:lnTo>
                    <a:pt x="33486" y="1230128"/>
                  </a:lnTo>
                  <a:lnTo>
                    <a:pt x="54863" y="1234440"/>
                  </a:lnTo>
                  <a:lnTo>
                    <a:pt x="3364991" y="1234440"/>
                  </a:lnTo>
                  <a:lnTo>
                    <a:pt x="3386369" y="1230128"/>
                  </a:lnTo>
                  <a:lnTo>
                    <a:pt x="3403806" y="1218371"/>
                  </a:lnTo>
                  <a:lnTo>
                    <a:pt x="3415551" y="1200932"/>
                  </a:lnTo>
                  <a:lnTo>
                    <a:pt x="3419856" y="1179576"/>
                  </a:lnTo>
                  <a:lnTo>
                    <a:pt x="3419856" y="54864"/>
                  </a:lnTo>
                  <a:lnTo>
                    <a:pt x="3415551" y="33486"/>
                  </a:lnTo>
                  <a:lnTo>
                    <a:pt x="3403806" y="16049"/>
                  </a:lnTo>
                  <a:lnTo>
                    <a:pt x="3386369" y="4304"/>
                  </a:lnTo>
                  <a:lnTo>
                    <a:pt x="3364991" y="0"/>
                  </a:lnTo>
                  <a:close/>
                </a:path>
              </a:pathLst>
            </a:custGeom>
            <a:solidFill>
              <a:srgbClr val="F5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386834" y="4620005"/>
              <a:ext cx="3420110" cy="1234440"/>
            </a:xfrm>
            <a:custGeom>
              <a:avLst/>
              <a:gdLst/>
              <a:ahLst/>
              <a:cxnLst/>
              <a:rect l="l" t="t" r="r" b="b"/>
              <a:pathLst>
                <a:path w="3420109" h="1234439">
                  <a:moveTo>
                    <a:pt x="0" y="54864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3364991" y="0"/>
                  </a:lnTo>
                  <a:lnTo>
                    <a:pt x="3386369" y="4304"/>
                  </a:lnTo>
                  <a:lnTo>
                    <a:pt x="3403806" y="16049"/>
                  </a:lnTo>
                  <a:lnTo>
                    <a:pt x="3415551" y="33486"/>
                  </a:lnTo>
                  <a:lnTo>
                    <a:pt x="3419856" y="54864"/>
                  </a:lnTo>
                  <a:lnTo>
                    <a:pt x="3419856" y="1179576"/>
                  </a:lnTo>
                  <a:lnTo>
                    <a:pt x="3415551" y="1200932"/>
                  </a:lnTo>
                  <a:lnTo>
                    <a:pt x="3403806" y="1218371"/>
                  </a:lnTo>
                  <a:lnTo>
                    <a:pt x="3386369" y="1230128"/>
                  </a:lnTo>
                  <a:lnTo>
                    <a:pt x="3364991" y="1234440"/>
                  </a:lnTo>
                  <a:lnTo>
                    <a:pt x="54863" y="1234440"/>
                  </a:lnTo>
                  <a:lnTo>
                    <a:pt x="33486" y="1230128"/>
                  </a:lnTo>
                  <a:lnTo>
                    <a:pt x="16049" y="1218371"/>
                  </a:lnTo>
                  <a:lnTo>
                    <a:pt x="4304" y="1200932"/>
                  </a:lnTo>
                  <a:lnTo>
                    <a:pt x="0" y="1179576"/>
                  </a:lnTo>
                  <a:lnTo>
                    <a:pt x="0" y="54864"/>
                  </a:lnTo>
                  <a:close/>
                </a:path>
              </a:pathLst>
            </a:custGeom>
            <a:ln w="13716">
              <a:solidFill>
                <a:srgbClr val="F5F6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386834" y="4620005"/>
            <a:ext cx="3420110" cy="1234440"/>
          </a:xfrm>
          <a:prstGeom prst="rect">
            <a:avLst/>
          </a:prstGeom>
        </p:spPr>
        <p:txBody>
          <a:bodyPr vert="horz" wrap="square" lIns="0" tIns="174625" rIns="0" bIns="0" rtlCol="0">
            <a:spAutoFit/>
          </a:bodyPr>
          <a:lstStyle/>
          <a:p>
            <a:pPr marL="198755">
              <a:lnSpc>
                <a:spcPct val="100000"/>
              </a:lnSpc>
              <a:spcBef>
                <a:spcPts val="1375"/>
              </a:spcBef>
            </a:pPr>
            <a:r>
              <a:rPr sz="1350" b="1" spc="-10" dirty="0">
                <a:solidFill>
                  <a:srgbClr val="1E2760"/>
                </a:solidFill>
                <a:latin typeface="Cambria"/>
                <a:cs typeface="Cambria"/>
              </a:rPr>
              <a:t>Argparse</a:t>
            </a:r>
            <a:endParaRPr sz="13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1350">
              <a:latin typeface="Cambria"/>
              <a:cs typeface="Cambria"/>
            </a:endParaRPr>
          </a:p>
          <a:p>
            <a:pPr marL="198755">
              <a:lnSpc>
                <a:spcPct val="100000"/>
              </a:lnSpc>
            </a:pP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Supplies</a:t>
            </a:r>
            <a:r>
              <a:rPr sz="1100" spc="-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test</a:t>
            </a:r>
            <a:r>
              <a:rPr sz="1100" spc="-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image</a:t>
            </a:r>
            <a:r>
              <a:rPr sz="1100" spc="-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via</a:t>
            </a:r>
            <a:r>
              <a:rPr sz="1100" spc="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command</a:t>
            </a:r>
            <a:r>
              <a:rPr sz="1100" spc="-8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2B2B2B"/>
                </a:solidFill>
                <a:latin typeface="Calibri"/>
                <a:cs typeface="Calibri"/>
              </a:rPr>
              <a:t>line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8119871" y="4613147"/>
            <a:ext cx="3438525" cy="1248410"/>
            <a:chOff x="8119871" y="4613147"/>
            <a:chExt cx="3438525" cy="1248410"/>
          </a:xfrm>
        </p:grpSpPr>
        <p:sp>
          <p:nvSpPr>
            <p:cNvPr id="36" name="object 36"/>
            <p:cNvSpPr/>
            <p:nvPr/>
          </p:nvSpPr>
          <p:spPr>
            <a:xfrm>
              <a:off x="8126729" y="4620005"/>
              <a:ext cx="3424554" cy="1234440"/>
            </a:xfrm>
            <a:custGeom>
              <a:avLst/>
              <a:gdLst/>
              <a:ahLst/>
              <a:cxnLst/>
              <a:rect l="l" t="t" r="r" b="b"/>
              <a:pathLst>
                <a:path w="3424554" h="1234439">
                  <a:moveTo>
                    <a:pt x="3369564" y="0"/>
                  </a:moveTo>
                  <a:lnTo>
                    <a:pt x="54864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4"/>
                  </a:lnTo>
                  <a:lnTo>
                    <a:pt x="0" y="1179588"/>
                  </a:lnTo>
                  <a:lnTo>
                    <a:pt x="4304" y="1200937"/>
                  </a:lnTo>
                  <a:lnTo>
                    <a:pt x="16049" y="1218372"/>
                  </a:lnTo>
                  <a:lnTo>
                    <a:pt x="33486" y="1230128"/>
                  </a:lnTo>
                  <a:lnTo>
                    <a:pt x="54864" y="1234440"/>
                  </a:lnTo>
                  <a:lnTo>
                    <a:pt x="3369564" y="1234440"/>
                  </a:lnTo>
                  <a:lnTo>
                    <a:pt x="3390941" y="1230128"/>
                  </a:lnTo>
                  <a:lnTo>
                    <a:pt x="3408378" y="1218372"/>
                  </a:lnTo>
                  <a:lnTo>
                    <a:pt x="3420123" y="1200937"/>
                  </a:lnTo>
                  <a:lnTo>
                    <a:pt x="3424428" y="1179588"/>
                  </a:lnTo>
                  <a:lnTo>
                    <a:pt x="3424428" y="54864"/>
                  </a:lnTo>
                  <a:lnTo>
                    <a:pt x="3420123" y="33486"/>
                  </a:lnTo>
                  <a:lnTo>
                    <a:pt x="3408378" y="16049"/>
                  </a:lnTo>
                  <a:lnTo>
                    <a:pt x="3390941" y="4304"/>
                  </a:lnTo>
                  <a:lnTo>
                    <a:pt x="3369564" y="0"/>
                  </a:lnTo>
                  <a:close/>
                </a:path>
              </a:pathLst>
            </a:custGeom>
            <a:solidFill>
              <a:srgbClr val="F5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126729" y="4620005"/>
              <a:ext cx="3424554" cy="1234440"/>
            </a:xfrm>
            <a:custGeom>
              <a:avLst/>
              <a:gdLst/>
              <a:ahLst/>
              <a:cxnLst/>
              <a:rect l="l" t="t" r="r" b="b"/>
              <a:pathLst>
                <a:path w="3424554" h="1234439">
                  <a:moveTo>
                    <a:pt x="0" y="54864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4" y="0"/>
                  </a:lnTo>
                  <a:lnTo>
                    <a:pt x="3369564" y="0"/>
                  </a:lnTo>
                  <a:lnTo>
                    <a:pt x="3390941" y="4304"/>
                  </a:lnTo>
                  <a:lnTo>
                    <a:pt x="3408378" y="16049"/>
                  </a:lnTo>
                  <a:lnTo>
                    <a:pt x="3420123" y="33486"/>
                  </a:lnTo>
                  <a:lnTo>
                    <a:pt x="3424428" y="54864"/>
                  </a:lnTo>
                  <a:lnTo>
                    <a:pt x="3424428" y="1179588"/>
                  </a:lnTo>
                  <a:lnTo>
                    <a:pt x="3420123" y="1200937"/>
                  </a:lnTo>
                  <a:lnTo>
                    <a:pt x="3408378" y="1218372"/>
                  </a:lnTo>
                  <a:lnTo>
                    <a:pt x="3390941" y="1230128"/>
                  </a:lnTo>
                  <a:lnTo>
                    <a:pt x="3369564" y="1234440"/>
                  </a:lnTo>
                  <a:lnTo>
                    <a:pt x="54864" y="1234440"/>
                  </a:lnTo>
                  <a:lnTo>
                    <a:pt x="33486" y="1230128"/>
                  </a:lnTo>
                  <a:lnTo>
                    <a:pt x="16049" y="1218372"/>
                  </a:lnTo>
                  <a:lnTo>
                    <a:pt x="4304" y="1200937"/>
                  </a:lnTo>
                  <a:lnTo>
                    <a:pt x="0" y="1179588"/>
                  </a:lnTo>
                  <a:lnTo>
                    <a:pt x="0" y="54864"/>
                  </a:lnTo>
                  <a:close/>
                </a:path>
              </a:pathLst>
            </a:custGeom>
            <a:ln w="13716">
              <a:solidFill>
                <a:srgbClr val="F5F6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126730" y="4620005"/>
            <a:ext cx="3424554" cy="1234440"/>
          </a:xfrm>
          <a:prstGeom prst="rect">
            <a:avLst/>
          </a:prstGeom>
        </p:spPr>
        <p:txBody>
          <a:bodyPr vert="horz" wrap="square" lIns="0" tIns="174625" rIns="0" bIns="0" rtlCol="0">
            <a:spAutoFit/>
          </a:bodyPr>
          <a:lstStyle/>
          <a:p>
            <a:pPr marL="203200">
              <a:lnSpc>
                <a:spcPct val="100000"/>
              </a:lnSpc>
              <a:spcBef>
                <a:spcPts val="1375"/>
              </a:spcBef>
            </a:pPr>
            <a:r>
              <a:rPr sz="1350" b="1" spc="-10" dirty="0">
                <a:solidFill>
                  <a:srgbClr val="1E2760"/>
                </a:solidFill>
                <a:latin typeface="Cambria"/>
                <a:cs typeface="Cambria"/>
              </a:rPr>
              <a:t>GitHub</a:t>
            </a:r>
            <a:endParaRPr sz="13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1350">
              <a:latin typeface="Cambria"/>
              <a:cs typeface="Cambria"/>
            </a:endParaRPr>
          </a:p>
          <a:p>
            <a:pPr marL="203200">
              <a:lnSpc>
                <a:spcPct val="100000"/>
              </a:lnSpc>
            </a:pP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Hosts</a:t>
            </a:r>
            <a:r>
              <a:rPr sz="1100" spc="-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sz="1100" spc="-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shares</a:t>
            </a:r>
            <a:r>
              <a:rPr sz="1100" spc="-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1100" spc="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project</a:t>
            </a:r>
            <a:r>
              <a:rPr sz="1100" spc="-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source</a:t>
            </a:r>
            <a:r>
              <a:rPr sz="1100" spc="-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2B2B2B"/>
                </a:solidFill>
                <a:latin typeface="Calibri"/>
                <a:cs typeface="Calibri"/>
              </a:rPr>
              <a:t>code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Face</a:t>
            </a:r>
            <a:r>
              <a:rPr spc="-5" dirty="0"/>
              <a:t> </a:t>
            </a:r>
            <a:r>
              <a:rPr spc="-10" dirty="0"/>
              <a:t>Recognition</a:t>
            </a:r>
            <a:r>
              <a:rPr spc="-25" dirty="0"/>
              <a:t> </a:t>
            </a:r>
            <a:r>
              <a:rPr dirty="0"/>
              <a:t>Using</a:t>
            </a:r>
            <a:r>
              <a:rPr spc="15" dirty="0"/>
              <a:t> </a:t>
            </a:r>
            <a:r>
              <a:rPr spc="-10" dirty="0"/>
              <a:t>Python</a:t>
            </a:r>
            <a:r>
              <a:rPr spc="10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10" dirty="0"/>
              <a:t>OpenCV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System</a:t>
            </a:r>
            <a:r>
              <a:rPr spc="-13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7684" y="1529334"/>
            <a:ext cx="93726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1300" spc="-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system</a:t>
            </a:r>
            <a:r>
              <a:rPr sz="1300" spc="-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B2B2B"/>
                </a:solidFill>
                <a:latin typeface="Calibri"/>
                <a:cs typeface="Calibri"/>
              </a:rPr>
              <a:t>separates</a:t>
            </a:r>
            <a:r>
              <a:rPr sz="1300" spc="-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“where</a:t>
            </a:r>
            <a:r>
              <a:rPr sz="1300" spc="-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is</a:t>
            </a:r>
            <a:r>
              <a:rPr sz="1300" spc="-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1300" spc="-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face?”</a:t>
            </a:r>
            <a:r>
              <a:rPr sz="1300" spc="-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from</a:t>
            </a:r>
            <a:r>
              <a:rPr sz="1300" spc="-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“which</a:t>
            </a:r>
            <a:r>
              <a:rPr sz="1300" spc="-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trained</a:t>
            </a:r>
            <a:r>
              <a:rPr sz="1300" spc="-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identity does</a:t>
            </a:r>
            <a:r>
              <a:rPr sz="1300" spc="-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this</a:t>
            </a:r>
            <a:r>
              <a:rPr sz="1300" spc="-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face</a:t>
            </a:r>
            <a:r>
              <a:rPr sz="1300" spc="-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most</a:t>
            </a:r>
            <a:r>
              <a:rPr sz="1300" spc="-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closely match?”</a:t>
            </a:r>
            <a:r>
              <a:rPr sz="1300" spc="-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through</a:t>
            </a:r>
            <a:r>
              <a:rPr sz="1300" spc="-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two</a:t>
            </a:r>
            <a:r>
              <a:rPr sz="1300" spc="-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sequential </a:t>
            </a:r>
            <a:r>
              <a:rPr sz="1300" spc="-10" dirty="0">
                <a:solidFill>
                  <a:srgbClr val="2B2B2B"/>
                </a:solidFill>
                <a:latin typeface="Calibri"/>
                <a:cs typeface="Calibri"/>
              </a:rPr>
              <a:t>stages.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7684" y="2766187"/>
            <a:ext cx="1210945" cy="4502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670"/>
              </a:lnSpc>
              <a:spcBef>
                <a:spcPts val="105"/>
              </a:spcBef>
            </a:pPr>
            <a:r>
              <a:rPr sz="1400" b="1" dirty="0">
                <a:solidFill>
                  <a:srgbClr val="791F2B"/>
                </a:solidFill>
                <a:latin typeface="Cambria"/>
                <a:cs typeface="Cambria"/>
              </a:rPr>
              <a:t>Stage</a:t>
            </a:r>
            <a:r>
              <a:rPr sz="1400" b="1" spc="-35" dirty="0">
                <a:solidFill>
                  <a:srgbClr val="791F2B"/>
                </a:solidFill>
                <a:latin typeface="Cambria"/>
                <a:cs typeface="Cambria"/>
              </a:rPr>
              <a:t> </a:t>
            </a:r>
            <a:r>
              <a:rPr sz="1400" b="1" spc="-50" dirty="0">
                <a:solidFill>
                  <a:srgbClr val="791F2B"/>
                </a:solidFill>
                <a:latin typeface="Cambria"/>
                <a:cs typeface="Cambria"/>
              </a:rPr>
              <a:t>1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ts val="1670"/>
              </a:lnSpc>
            </a:pPr>
            <a:r>
              <a:rPr sz="1400" b="1" spc="-10" dirty="0">
                <a:solidFill>
                  <a:srgbClr val="791F2B"/>
                </a:solidFill>
                <a:latin typeface="Cambria"/>
                <a:cs typeface="Cambria"/>
              </a:rPr>
              <a:t>Face</a:t>
            </a:r>
            <a:r>
              <a:rPr sz="1400" b="1" spc="-55" dirty="0">
                <a:solidFill>
                  <a:srgbClr val="791F2B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791F2B"/>
                </a:solidFill>
                <a:latin typeface="Cambria"/>
                <a:cs typeface="Cambria"/>
              </a:rPr>
              <a:t>Detection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601467" y="2281427"/>
            <a:ext cx="1705610" cy="791210"/>
            <a:chOff x="2601467" y="2281427"/>
            <a:chExt cx="1705610" cy="791210"/>
          </a:xfrm>
        </p:grpSpPr>
        <p:sp>
          <p:nvSpPr>
            <p:cNvPr id="6" name="object 6"/>
            <p:cNvSpPr/>
            <p:nvPr/>
          </p:nvSpPr>
          <p:spPr>
            <a:xfrm>
              <a:off x="2608325" y="2288285"/>
              <a:ext cx="1691639" cy="777240"/>
            </a:xfrm>
            <a:custGeom>
              <a:avLst/>
              <a:gdLst/>
              <a:ahLst/>
              <a:cxnLst/>
              <a:rect l="l" t="t" r="r" b="b"/>
              <a:pathLst>
                <a:path w="1691639" h="777239">
                  <a:moveTo>
                    <a:pt x="1636776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722376"/>
                  </a:lnTo>
                  <a:lnTo>
                    <a:pt x="4304" y="743753"/>
                  </a:lnTo>
                  <a:lnTo>
                    <a:pt x="16049" y="761190"/>
                  </a:lnTo>
                  <a:lnTo>
                    <a:pt x="33486" y="772935"/>
                  </a:lnTo>
                  <a:lnTo>
                    <a:pt x="54863" y="777239"/>
                  </a:lnTo>
                  <a:lnTo>
                    <a:pt x="1636776" y="777239"/>
                  </a:lnTo>
                  <a:lnTo>
                    <a:pt x="1658153" y="772935"/>
                  </a:lnTo>
                  <a:lnTo>
                    <a:pt x="1675590" y="761190"/>
                  </a:lnTo>
                  <a:lnTo>
                    <a:pt x="1687335" y="743753"/>
                  </a:lnTo>
                  <a:lnTo>
                    <a:pt x="1691639" y="722376"/>
                  </a:lnTo>
                  <a:lnTo>
                    <a:pt x="1691639" y="54863"/>
                  </a:lnTo>
                  <a:lnTo>
                    <a:pt x="1687335" y="33486"/>
                  </a:lnTo>
                  <a:lnTo>
                    <a:pt x="1675590" y="16049"/>
                  </a:lnTo>
                  <a:lnTo>
                    <a:pt x="1658153" y="4304"/>
                  </a:lnTo>
                  <a:lnTo>
                    <a:pt x="1636776" y="0"/>
                  </a:lnTo>
                  <a:close/>
                </a:path>
              </a:pathLst>
            </a:custGeom>
            <a:solidFill>
              <a:srgbClr val="1E27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08325" y="2288285"/>
              <a:ext cx="1691639" cy="777240"/>
            </a:xfrm>
            <a:custGeom>
              <a:avLst/>
              <a:gdLst/>
              <a:ahLst/>
              <a:cxnLst/>
              <a:rect l="l" t="t" r="r" b="b"/>
              <a:pathLst>
                <a:path w="1691639" h="777239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1636776" y="0"/>
                  </a:lnTo>
                  <a:lnTo>
                    <a:pt x="1658153" y="4304"/>
                  </a:lnTo>
                  <a:lnTo>
                    <a:pt x="1675590" y="16049"/>
                  </a:lnTo>
                  <a:lnTo>
                    <a:pt x="1687335" y="33486"/>
                  </a:lnTo>
                  <a:lnTo>
                    <a:pt x="1691639" y="54863"/>
                  </a:lnTo>
                  <a:lnTo>
                    <a:pt x="1691639" y="722376"/>
                  </a:lnTo>
                  <a:lnTo>
                    <a:pt x="1687335" y="743753"/>
                  </a:lnTo>
                  <a:lnTo>
                    <a:pt x="1675590" y="761190"/>
                  </a:lnTo>
                  <a:lnTo>
                    <a:pt x="1658153" y="772935"/>
                  </a:lnTo>
                  <a:lnTo>
                    <a:pt x="1636776" y="777239"/>
                  </a:lnTo>
                  <a:lnTo>
                    <a:pt x="54863" y="777239"/>
                  </a:lnTo>
                  <a:lnTo>
                    <a:pt x="33486" y="772935"/>
                  </a:lnTo>
                  <a:lnTo>
                    <a:pt x="16049" y="761190"/>
                  </a:lnTo>
                  <a:lnTo>
                    <a:pt x="4304" y="743753"/>
                  </a:lnTo>
                  <a:lnTo>
                    <a:pt x="0" y="722376"/>
                  </a:lnTo>
                  <a:lnTo>
                    <a:pt x="0" y="54863"/>
                  </a:lnTo>
                  <a:close/>
                </a:path>
              </a:pathLst>
            </a:custGeom>
            <a:ln w="13716">
              <a:solidFill>
                <a:srgbClr val="1E27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608326" y="2288285"/>
            <a:ext cx="1691639" cy="77724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9"/>
              </a:spcBef>
            </a:pPr>
            <a:endParaRPr sz="1050">
              <a:latin typeface="Times New Roman"/>
              <a:cs typeface="Times New Roman"/>
            </a:endParaRPr>
          </a:p>
          <a:p>
            <a:pPr marL="621030" marR="615950" algn="ctr">
              <a:lnSpc>
                <a:spcPct val="100000"/>
              </a:lnSpc>
            </a:pPr>
            <a:r>
              <a:rPr sz="1050" b="1" spc="-20" dirty="0">
                <a:solidFill>
                  <a:srgbClr val="FFFFFF"/>
                </a:solidFill>
                <a:latin typeface="Calibri"/>
                <a:cs typeface="Calibri"/>
              </a:rPr>
              <a:t>Training </a:t>
            </a:r>
            <a:r>
              <a:rPr sz="1050" b="1" spc="-10" dirty="0">
                <a:solidFill>
                  <a:srgbClr val="FFFFFF"/>
                </a:solidFill>
                <a:latin typeface="Calibri"/>
                <a:cs typeface="Calibri"/>
              </a:rPr>
              <a:t>Images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23334" y="2532634"/>
            <a:ext cx="207645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50" dirty="0">
                <a:solidFill>
                  <a:srgbClr val="6B6B6B"/>
                </a:solidFill>
                <a:latin typeface="Calibri"/>
                <a:cs typeface="Calibri"/>
              </a:rPr>
              <a:t>→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549140" y="2281427"/>
            <a:ext cx="1705610" cy="791210"/>
            <a:chOff x="4549140" y="2281427"/>
            <a:chExt cx="1705610" cy="791210"/>
          </a:xfrm>
        </p:grpSpPr>
        <p:sp>
          <p:nvSpPr>
            <p:cNvPr id="11" name="object 11"/>
            <p:cNvSpPr/>
            <p:nvPr/>
          </p:nvSpPr>
          <p:spPr>
            <a:xfrm>
              <a:off x="4555998" y="2288285"/>
              <a:ext cx="1691639" cy="777240"/>
            </a:xfrm>
            <a:custGeom>
              <a:avLst/>
              <a:gdLst/>
              <a:ahLst/>
              <a:cxnLst/>
              <a:rect l="l" t="t" r="r" b="b"/>
              <a:pathLst>
                <a:path w="1691639" h="777239">
                  <a:moveTo>
                    <a:pt x="1636776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722376"/>
                  </a:lnTo>
                  <a:lnTo>
                    <a:pt x="4304" y="743753"/>
                  </a:lnTo>
                  <a:lnTo>
                    <a:pt x="16049" y="761190"/>
                  </a:lnTo>
                  <a:lnTo>
                    <a:pt x="33486" y="772935"/>
                  </a:lnTo>
                  <a:lnTo>
                    <a:pt x="54863" y="777239"/>
                  </a:lnTo>
                  <a:lnTo>
                    <a:pt x="1636776" y="777239"/>
                  </a:lnTo>
                  <a:lnTo>
                    <a:pt x="1658153" y="772935"/>
                  </a:lnTo>
                  <a:lnTo>
                    <a:pt x="1675590" y="761190"/>
                  </a:lnTo>
                  <a:lnTo>
                    <a:pt x="1687335" y="743753"/>
                  </a:lnTo>
                  <a:lnTo>
                    <a:pt x="1691639" y="722376"/>
                  </a:lnTo>
                  <a:lnTo>
                    <a:pt x="1691639" y="54863"/>
                  </a:lnTo>
                  <a:lnTo>
                    <a:pt x="1687335" y="33486"/>
                  </a:lnTo>
                  <a:lnTo>
                    <a:pt x="1675590" y="16049"/>
                  </a:lnTo>
                  <a:lnTo>
                    <a:pt x="1658153" y="4304"/>
                  </a:lnTo>
                  <a:lnTo>
                    <a:pt x="1636776" y="0"/>
                  </a:lnTo>
                  <a:close/>
                </a:path>
              </a:pathLst>
            </a:custGeom>
            <a:solidFill>
              <a:srgbClr val="1E27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55998" y="2288285"/>
              <a:ext cx="1691639" cy="777240"/>
            </a:xfrm>
            <a:custGeom>
              <a:avLst/>
              <a:gdLst/>
              <a:ahLst/>
              <a:cxnLst/>
              <a:rect l="l" t="t" r="r" b="b"/>
              <a:pathLst>
                <a:path w="1691639" h="777239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1636776" y="0"/>
                  </a:lnTo>
                  <a:lnTo>
                    <a:pt x="1658153" y="4304"/>
                  </a:lnTo>
                  <a:lnTo>
                    <a:pt x="1675590" y="16049"/>
                  </a:lnTo>
                  <a:lnTo>
                    <a:pt x="1687335" y="33486"/>
                  </a:lnTo>
                  <a:lnTo>
                    <a:pt x="1691639" y="54863"/>
                  </a:lnTo>
                  <a:lnTo>
                    <a:pt x="1691639" y="722376"/>
                  </a:lnTo>
                  <a:lnTo>
                    <a:pt x="1687335" y="743753"/>
                  </a:lnTo>
                  <a:lnTo>
                    <a:pt x="1675590" y="761190"/>
                  </a:lnTo>
                  <a:lnTo>
                    <a:pt x="1658153" y="772935"/>
                  </a:lnTo>
                  <a:lnTo>
                    <a:pt x="1636776" y="777239"/>
                  </a:lnTo>
                  <a:lnTo>
                    <a:pt x="54863" y="777239"/>
                  </a:lnTo>
                  <a:lnTo>
                    <a:pt x="33486" y="772935"/>
                  </a:lnTo>
                  <a:lnTo>
                    <a:pt x="16049" y="761190"/>
                  </a:lnTo>
                  <a:lnTo>
                    <a:pt x="4304" y="743753"/>
                  </a:lnTo>
                  <a:lnTo>
                    <a:pt x="0" y="722376"/>
                  </a:lnTo>
                  <a:lnTo>
                    <a:pt x="0" y="54863"/>
                  </a:lnTo>
                  <a:close/>
                </a:path>
              </a:pathLst>
            </a:custGeom>
            <a:ln w="13716">
              <a:solidFill>
                <a:srgbClr val="1E27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555997" y="2288285"/>
            <a:ext cx="1691639" cy="77724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9"/>
              </a:spcBef>
            </a:pPr>
            <a:endParaRPr sz="1050">
              <a:latin typeface="Times New Roman"/>
              <a:cs typeface="Times New Roman"/>
            </a:endParaRPr>
          </a:p>
          <a:p>
            <a:pPr marL="571500" marR="469265" indent="-96520">
              <a:lnSpc>
                <a:spcPct val="100000"/>
              </a:lnSpc>
            </a:pPr>
            <a:r>
              <a:rPr sz="1050" b="1" dirty="0">
                <a:solidFill>
                  <a:srgbClr val="FFFFFF"/>
                </a:solidFill>
                <a:latin typeface="Calibri"/>
                <a:cs typeface="Calibri"/>
              </a:rPr>
              <a:t>Haar</a:t>
            </a:r>
            <a:r>
              <a:rPr sz="105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FFFFFF"/>
                </a:solidFill>
                <a:latin typeface="Calibri"/>
                <a:cs typeface="Calibri"/>
              </a:rPr>
              <a:t>Cascade Detection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72021" y="2532634"/>
            <a:ext cx="207645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50" dirty="0">
                <a:solidFill>
                  <a:srgbClr val="6B6B6B"/>
                </a:solidFill>
                <a:latin typeface="Calibri"/>
                <a:cs typeface="Calibri"/>
              </a:rPr>
              <a:t>→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496811" y="2281427"/>
            <a:ext cx="1705610" cy="791210"/>
            <a:chOff x="6496811" y="2281427"/>
            <a:chExt cx="1705610" cy="791210"/>
          </a:xfrm>
        </p:grpSpPr>
        <p:sp>
          <p:nvSpPr>
            <p:cNvPr id="16" name="object 16"/>
            <p:cNvSpPr/>
            <p:nvPr/>
          </p:nvSpPr>
          <p:spPr>
            <a:xfrm>
              <a:off x="6503669" y="2288285"/>
              <a:ext cx="1691639" cy="777240"/>
            </a:xfrm>
            <a:custGeom>
              <a:avLst/>
              <a:gdLst/>
              <a:ahLst/>
              <a:cxnLst/>
              <a:rect l="l" t="t" r="r" b="b"/>
              <a:pathLst>
                <a:path w="1691640" h="777239">
                  <a:moveTo>
                    <a:pt x="1636776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722376"/>
                  </a:lnTo>
                  <a:lnTo>
                    <a:pt x="4304" y="743753"/>
                  </a:lnTo>
                  <a:lnTo>
                    <a:pt x="16049" y="761190"/>
                  </a:lnTo>
                  <a:lnTo>
                    <a:pt x="33486" y="772935"/>
                  </a:lnTo>
                  <a:lnTo>
                    <a:pt x="54863" y="777239"/>
                  </a:lnTo>
                  <a:lnTo>
                    <a:pt x="1636776" y="777239"/>
                  </a:lnTo>
                  <a:lnTo>
                    <a:pt x="1658153" y="772935"/>
                  </a:lnTo>
                  <a:lnTo>
                    <a:pt x="1675590" y="761190"/>
                  </a:lnTo>
                  <a:lnTo>
                    <a:pt x="1687335" y="743753"/>
                  </a:lnTo>
                  <a:lnTo>
                    <a:pt x="1691639" y="722376"/>
                  </a:lnTo>
                  <a:lnTo>
                    <a:pt x="1691639" y="54863"/>
                  </a:lnTo>
                  <a:lnTo>
                    <a:pt x="1687335" y="33486"/>
                  </a:lnTo>
                  <a:lnTo>
                    <a:pt x="1675590" y="16049"/>
                  </a:lnTo>
                  <a:lnTo>
                    <a:pt x="1658153" y="4304"/>
                  </a:lnTo>
                  <a:lnTo>
                    <a:pt x="1636776" y="0"/>
                  </a:lnTo>
                  <a:close/>
                </a:path>
              </a:pathLst>
            </a:custGeom>
            <a:solidFill>
              <a:srgbClr val="1E27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03669" y="2288285"/>
              <a:ext cx="1691639" cy="777240"/>
            </a:xfrm>
            <a:custGeom>
              <a:avLst/>
              <a:gdLst/>
              <a:ahLst/>
              <a:cxnLst/>
              <a:rect l="l" t="t" r="r" b="b"/>
              <a:pathLst>
                <a:path w="1691640" h="777239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1636776" y="0"/>
                  </a:lnTo>
                  <a:lnTo>
                    <a:pt x="1658153" y="4304"/>
                  </a:lnTo>
                  <a:lnTo>
                    <a:pt x="1675590" y="16049"/>
                  </a:lnTo>
                  <a:lnTo>
                    <a:pt x="1687335" y="33486"/>
                  </a:lnTo>
                  <a:lnTo>
                    <a:pt x="1691639" y="54863"/>
                  </a:lnTo>
                  <a:lnTo>
                    <a:pt x="1691639" y="722376"/>
                  </a:lnTo>
                  <a:lnTo>
                    <a:pt x="1687335" y="743753"/>
                  </a:lnTo>
                  <a:lnTo>
                    <a:pt x="1675590" y="761190"/>
                  </a:lnTo>
                  <a:lnTo>
                    <a:pt x="1658153" y="772935"/>
                  </a:lnTo>
                  <a:lnTo>
                    <a:pt x="1636776" y="777239"/>
                  </a:lnTo>
                  <a:lnTo>
                    <a:pt x="54863" y="777239"/>
                  </a:lnTo>
                  <a:lnTo>
                    <a:pt x="33486" y="772935"/>
                  </a:lnTo>
                  <a:lnTo>
                    <a:pt x="16049" y="761190"/>
                  </a:lnTo>
                  <a:lnTo>
                    <a:pt x="4304" y="743753"/>
                  </a:lnTo>
                  <a:lnTo>
                    <a:pt x="0" y="722376"/>
                  </a:lnTo>
                  <a:lnTo>
                    <a:pt x="0" y="54863"/>
                  </a:lnTo>
                  <a:close/>
                </a:path>
              </a:pathLst>
            </a:custGeom>
            <a:ln w="13716">
              <a:solidFill>
                <a:srgbClr val="1E27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503669" y="2288285"/>
            <a:ext cx="1691639" cy="77724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9"/>
              </a:spcBef>
            </a:pPr>
            <a:endParaRPr sz="1050">
              <a:latin typeface="Times New Roman"/>
              <a:cs typeface="Times New Roman"/>
            </a:endParaRPr>
          </a:p>
          <a:p>
            <a:pPr marL="567055" marR="560070" algn="ctr">
              <a:lnSpc>
                <a:spcPct val="100000"/>
              </a:lnSpc>
            </a:pPr>
            <a:r>
              <a:rPr sz="1050" b="1" spc="-20" dirty="0">
                <a:solidFill>
                  <a:srgbClr val="FFFFFF"/>
                </a:solidFill>
                <a:latin typeface="Calibri"/>
                <a:cs typeface="Calibri"/>
              </a:rPr>
              <a:t>Face </a:t>
            </a:r>
            <a:r>
              <a:rPr sz="1050" b="1" spc="-10" dirty="0">
                <a:solidFill>
                  <a:srgbClr val="FFFFFF"/>
                </a:solidFill>
                <a:latin typeface="Calibri"/>
                <a:cs typeface="Calibri"/>
              </a:rPr>
              <a:t>Extraction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7684" y="4184396"/>
            <a:ext cx="1403350" cy="450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70"/>
              </a:lnSpc>
              <a:spcBef>
                <a:spcPts val="100"/>
              </a:spcBef>
            </a:pPr>
            <a:r>
              <a:rPr sz="1400" b="1" dirty="0">
                <a:solidFill>
                  <a:srgbClr val="791F2B"/>
                </a:solidFill>
                <a:latin typeface="Cambria"/>
                <a:cs typeface="Cambria"/>
              </a:rPr>
              <a:t>Stage</a:t>
            </a:r>
            <a:r>
              <a:rPr sz="1400" b="1" spc="-35" dirty="0">
                <a:solidFill>
                  <a:srgbClr val="791F2B"/>
                </a:solidFill>
                <a:latin typeface="Cambria"/>
                <a:cs typeface="Cambria"/>
              </a:rPr>
              <a:t> </a:t>
            </a:r>
            <a:r>
              <a:rPr sz="1400" b="1" spc="-50" dirty="0">
                <a:solidFill>
                  <a:srgbClr val="791F2B"/>
                </a:solidFill>
                <a:latin typeface="Cambria"/>
                <a:cs typeface="Cambria"/>
              </a:rPr>
              <a:t>2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ts val="1670"/>
              </a:lnSpc>
            </a:pPr>
            <a:r>
              <a:rPr sz="1400" b="1" spc="-10" dirty="0">
                <a:solidFill>
                  <a:srgbClr val="791F2B"/>
                </a:solidFill>
                <a:latin typeface="Cambria"/>
                <a:cs typeface="Cambria"/>
              </a:rPr>
              <a:t>Face</a:t>
            </a:r>
            <a:r>
              <a:rPr sz="1400" b="1" spc="-55" dirty="0">
                <a:solidFill>
                  <a:srgbClr val="791F2B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791F2B"/>
                </a:solidFill>
                <a:latin typeface="Cambria"/>
                <a:cs typeface="Cambria"/>
              </a:rPr>
              <a:t>Recognition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601467" y="3698747"/>
            <a:ext cx="1705610" cy="791210"/>
            <a:chOff x="2601467" y="3698747"/>
            <a:chExt cx="1705610" cy="791210"/>
          </a:xfrm>
        </p:grpSpPr>
        <p:sp>
          <p:nvSpPr>
            <p:cNvPr id="21" name="object 21"/>
            <p:cNvSpPr/>
            <p:nvPr/>
          </p:nvSpPr>
          <p:spPr>
            <a:xfrm>
              <a:off x="2608325" y="3705605"/>
              <a:ext cx="1691639" cy="777240"/>
            </a:xfrm>
            <a:custGeom>
              <a:avLst/>
              <a:gdLst/>
              <a:ahLst/>
              <a:cxnLst/>
              <a:rect l="l" t="t" r="r" b="b"/>
              <a:pathLst>
                <a:path w="1691639" h="777239">
                  <a:moveTo>
                    <a:pt x="1636776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4"/>
                  </a:lnTo>
                  <a:lnTo>
                    <a:pt x="0" y="722376"/>
                  </a:lnTo>
                  <a:lnTo>
                    <a:pt x="4304" y="743753"/>
                  </a:lnTo>
                  <a:lnTo>
                    <a:pt x="16049" y="761190"/>
                  </a:lnTo>
                  <a:lnTo>
                    <a:pt x="33486" y="772935"/>
                  </a:lnTo>
                  <a:lnTo>
                    <a:pt x="54863" y="777240"/>
                  </a:lnTo>
                  <a:lnTo>
                    <a:pt x="1636776" y="777240"/>
                  </a:lnTo>
                  <a:lnTo>
                    <a:pt x="1658153" y="772935"/>
                  </a:lnTo>
                  <a:lnTo>
                    <a:pt x="1675590" y="761190"/>
                  </a:lnTo>
                  <a:lnTo>
                    <a:pt x="1687335" y="743753"/>
                  </a:lnTo>
                  <a:lnTo>
                    <a:pt x="1691639" y="722376"/>
                  </a:lnTo>
                  <a:lnTo>
                    <a:pt x="1691639" y="54864"/>
                  </a:lnTo>
                  <a:lnTo>
                    <a:pt x="1687335" y="33486"/>
                  </a:lnTo>
                  <a:lnTo>
                    <a:pt x="1675590" y="16049"/>
                  </a:lnTo>
                  <a:lnTo>
                    <a:pt x="1658153" y="4304"/>
                  </a:lnTo>
                  <a:lnTo>
                    <a:pt x="1636776" y="0"/>
                  </a:lnTo>
                  <a:close/>
                </a:path>
              </a:pathLst>
            </a:custGeom>
            <a:solidFill>
              <a:srgbClr val="791F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608325" y="3705605"/>
              <a:ext cx="1691639" cy="777240"/>
            </a:xfrm>
            <a:custGeom>
              <a:avLst/>
              <a:gdLst/>
              <a:ahLst/>
              <a:cxnLst/>
              <a:rect l="l" t="t" r="r" b="b"/>
              <a:pathLst>
                <a:path w="1691639" h="777239">
                  <a:moveTo>
                    <a:pt x="0" y="54864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1636776" y="0"/>
                  </a:lnTo>
                  <a:lnTo>
                    <a:pt x="1658153" y="4304"/>
                  </a:lnTo>
                  <a:lnTo>
                    <a:pt x="1675590" y="16049"/>
                  </a:lnTo>
                  <a:lnTo>
                    <a:pt x="1687335" y="33486"/>
                  </a:lnTo>
                  <a:lnTo>
                    <a:pt x="1691639" y="54864"/>
                  </a:lnTo>
                  <a:lnTo>
                    <a:pt x="1691639" y="722376"/>
                  </a:lnTo>
                  <a:lnTo>
                    <a:pt x="1687335" y="743753"/>
                  </a:lnTo>
                  <a:lnTo>
                    <a:pt x="1675590" y="761190"/>
                  </a:lnTo>
                  <a:lnTo>
                    <a:pt x="1658153" y="772935"/>
                  </a:lnTo>
                  <a:lnTo>
                    <a:pt x="1636776" y="777240"/>
                  </a:lnTo>
                  <a:lnTo>
                    <a:pt x="54863" y="777240"/>
                  </a:lnTo>
                  <a:lnTo>
                    <a:pt x="33486" y="772935"/>
                  </a:lnTo>
                  <a:lnTo>
                    <a:pt x="16049" y="761190"/>
                  </a:lnTo>
                  <a:lnTo>
                    <a:pt x="4304" y="743753"/>
                  </a:lnTo>
                  <a:lnTo>
                    <a:pt x="0" y="722376"/>
                  </a:lnTo>
                  <a:lnTo>
                    <a:pt x="0" y="54864"/>
                  </a:lnTo>
                  <a:close/>
                </a:path>
              </a:pathLst>
            </a:custGeom>
            <a:ln w="13716">
              <a:solidFill>
                <a:srgbClr val="791F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608326" y="3705605"/>
            <a:ext cx="1691639" cy="77724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15"/>
              </a:spcBef>
            </a:pP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50" b="1" spc="-10" dirty="0">
                <a:solidFill>
                  <a:srgbClr val="FFFFFF"/>
                </a:solidFill>
                <a:latin typeface="Calibri"/>
                <a:cs typeface="Calibri"/>
              </a:rPr>
              <a:t>Grayscale</a:t>
            </a:r>
            <a:r>
              <a:rPr sz="1050" b="1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b="1" spc="-5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endParaRPr sz="10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050" b="1" spc="-10" dirty="0">
                <a:solidFill>
                  <a:srgbClr val="FFFFFF"/>
                </a:solidFill>
                <a:latin typeface="Calibri"/>
                <a:cs typeface="Calibri"/>
              </a:rPr>
              <a:t>Labeling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23334" y="3950665"/>
            <a:ext cx="208279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-50" dirty="0">
                <a:solidFill>
                  <a:srgbClr val="6B6B6B"/>
                </a:solidFill>
                <a:latin typeface="Calibri"/>
                <a:cs typeface="Calibri"/>
              </a:rPr>
              <a:t>→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549140" y="3698747"/>
            <a:ext cx="1705610" cy="791210"/>
            <a:chOff x="4549140" y="3698747"/>
            <a:chExt cx="1705610" cy="791210"/>
          </a:xfrm>
        </p:grpSpPr>
        <p:sp>
          <p:nvSpPr>
            <p:cNvPr id="26" name="object 26"/>
            <p:cNvSpPr/>
            <p:nvPr/>
          </p:nvSpPr>
          <p:spPr>
            <a:xfrm>
              <a:off x="4555998" y="3705605"/>
              <a:ext cx="1691639" cy="777240"/>
            </a:xfrm>
            <a:custGeom>
              <a:avLst/>
              <a:gdLst/>
              <a:ahLst/>
              <a:cxnLst/>
              <a:rect l="l" t="t" r="r" b="b"/>
              <a:pathLst>
                <a:path w="1691639" h="777239">
                  <a:moveTo>
                    <a:pt x="1636776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4"/>
                  </a:lnTo>
                  <a:lnTo>
                    <a:pt x="0" y="722376"/>
                  </a:lnTo>
                  <a:lnTo>
                    <a:pt x="4304" y="743753"/>
                  </a:lnTo>
                  <a:lnTo>
                    <a:pt x="16049" y="761190"/>
                  </a:lnTo>
                  <a:lnTo>
                    <a:pt x="33486" y="772935"/>
                  </a:lnTo>
                  <a:lnTo>
                    <a:pt x="54863" y="777240"/>
                  </a:lnTo>
                  <a:lnTo>
                    <a:pt x="1636776" y="777240"/>
                  </a:lnTo>
                  <a:lnTo>
                    <a:pt x="1658153" y="772935"/>
                  </a:lnTo>
                  <a:lnTo>
                    <a:pt x="1675590" y="761190"/>
                  </a:lnTo>
                  <a:lnTo>
                    <a:pt x="1687335" y="743753"/>
                  </a:lnTo>
                  <a:lnTo>
                    <a:pt x="1691639" y="722376"/>
                  </a:lnTo>
                  <a:lnTo>
                    <a:pt x="1691639" y="54864"/>
                  </a:lnTo>
                  <a:lnTo>
                    <a:pt x="1687335" y="33486"/>
                  </a:lnTo>
                  <a:lnTo>
                    <a:pt x="1675590" y="16049"/>
                  </a:lnTo>
                  <a:lnTo>
                    <a:pt x="1658153" y="4304"/>
                  </a:lnTo>
                  <a:lnTo>
                    <a:pt x="1636776" y="0"/>
                  </a:lnTo>
                  <a:close/>
                </a:path>
              </a:pathLst>
            </a:custGeom>
            <a:solidFill>
              <a:srgbClr val="791F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55998" y="3705605"/>
              <a:ext cx="1691639" cy="777240"/>
            </a:xfrm>
            <a:custGeom>
              <a:avLst/>
              <a:gdLst/>
              <a:ahLst/>
              <a:cxnLst/>
              <a:rect l="l" t="t" r="r" b="b"/>
              <a:pathLst>
                <a:path w="1691639" h="777239">
                  <a:moveTo>
                    <a:pt x="0" y="54864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1636776" y="0"/>
                  </a:lnTo>
                  <a:lnTo>
                    <a:pt x="1658153" y="4304"/>
                  </a:lnTo>
                  <a:lnTo>
                    <a:pt x="1675590" y="16049"/>
                  </a:lnTo>
                  <a:lnTo>
                    <a:pt x="1687335" y="33486"/>
                  </a:lnTo>
                  <a:lnTo>
                    <a:pt x="1691639" y="54864"/>
                  </a:lnTo>
                  <a:lnTo>
                    <a:pt x="1691639" y="722376"/>
                  </a:lnTo>
                  <a:lnTo>
                    <a:pt x="1687335" y="743753"/>
                  </a:lnTo>
                  <a:lnTo>
                    <a:pt x="1675590" y="761190"/>
                  </a:lnTo>
                  <a:lnTo>
                    <a:pt x="1658153" y="772935"/>
                  </a:lnTo>
                  <a:lnTo>
                    <a:pt x="1636776" y="777240"/>
                  </a:lnTo>
                  <a:lnTo>
                    <a:pt x="54863" y="777240"/>
                  </a:lnTo>
                  <a:lnTo>
                    <a:pt x="33486" y="772935"/>
                  </a:lnTo>
                  <a:lnTo>
                    <a:pt x="16049" y="761190"/>
                  </a:lnTo>
                  <a:lnTo>
                    <a:pt x="4304" y="743753"/>
                  </a:lnTo>
                  <a:lnTo>
                    <a:pt x="0" y="722376"/>
                  </a:lnTo>
                  <a:lnTo>
                    <a:pt x="0" y="54864"/>
                  </a:lnTo>
                  <a:close/>
                </a:path>
              </a:pathLst>
            </a:custGeom>
            <a:ln w="13716">
              <a:solidFill>
                <a:srgbClr val="791F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555997" y="3705605"/>
            <a:ext cx="1691639" cy="77724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15"/>
              </a:spcBef>
            </a:pPr>
            <a:endParaRPr sz="105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1050" b="1" dirty="0">
                <a:solidFill>
                  <a:srgbClr val="FFFFFF"/>
                </a:solidFill>
                <a:latin typeface="Calibri"/>
                <a:cs typeface="Calibri"/>
              </a:rPr>
              <a:t>LBPH</a:t>
            </a:r>
            <a:r>
              <a:rPr sz="105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10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050" b="1" spc="-10" dirty="0">
                <a:solidFill>
                  <a:srgbClr val="FFFFFF"/>
                </a:solidFill>
                <a:latin typeface="Calibri"/>
                <a:cs typeface="Calibri"/>
              </a:rPr>
              <a:t>Training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272021" y="3950665"/>
            <a:ext cx="208279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-50" dirty="0">
                <a:solidFill>
                  <a:srgbClr val="6B6B6B"/>
                </a:solidFill>
                <a:latin typeface="Calibri"/>
                <a:cs typeface="Calibri"/>
              </a:rPr>
              <a:t>→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496811" y="3698747"/>
            <a:ext cx="1705610" cy="791210"/>
            <a:chOff x="6496811" y="3698747"/>
            <a:chExt cx="1705610" cy="791210"/>
          </a:xfrm>
        </p:grpSpPr>
        <p:sp>
          <p:nvSpPr>
            <p:cNvPr id="31" name="object 31"/>
            <p:cNvSpPr/>
            <p:nvPr/>
          </p:nvSpPr>
          <p:spPr>
            <a:xfrm>
              <a:off x="6503669" y="3705605"/>
              <a:ext cx="1691639" cy="777240"/>
            </a:xfrm>
            <a:custGeom>
              <a:avLst/>
              <a:gdLst/>
              <a:ahLst/>
              <a:cxnLst/>
              <a:rect l="l" t="t" r="r" b="b"/>
              <a:pathLst>
                <a:path w="1691640" h="777239">
                  <a:moveTo>
                    <a:pt x="1636776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4"/>
                  </a:lnTo>
                  <a:lnTo>
                    <a:pt x="0" y="722376"/>
                  </a:lnTo>
                  <a:lnTo>
                    <a:pt x="4304" y="743753"/>
                  </a:lnTo>
                  <a:lnTo>
                    <a:pt x="16049" y="761190"/>
                  </a:lnTo>
                  <a:lnTo>
                    <a:pt x="33486" y="772935"/>
                  </a:lnTo>
                  <a:lnTo>
                    <a:pt x="54863" y="777240"/>
                  </a:lnTo>
                  <a:lnTo>
                    <a:pt x="1636776" y="777240"/>
                  </a:lnTo>
                  <a:lnTo>
                    <a:pt x="1658153" y="772935"/>
                  </a:lnTo>
                  <a:lnTo>
                    <a:pt x="1675590" y="761190"/>
                  </a:lnTo>
                  <a:lnTo>
                    <a:pt x="1687335" y="743753"/>
                  </a:lnTo>
                  <a:lnTo>
                    <a:pt x="1691639" y="722376"/>
                  </a:lnTo>
                  <a:lnTo>
                    <a:pt x="1691639" y="54864"/>
                  </a:lnTo>
                  <a:lnTo>
                    <a:pt x="1687335" y="33486"/>
                  </a:lnTo>
                  <a:lnTo>
                    <a:pt x="1675590" y="16049"/>
                  </a:lnTo>
                  <a:lnTo>
                    <a:pt x="1658153" y="4304"/>
                  </a:lnTo>
                  <a:lnTo>
                    <a:pt x="1636776" y="0"/>
                  </a:lnTo>
                  <a:close/>
                </a:path>
              </a:pathLst>
            </a:custGeom>
            <a:solidFill>
              <a:srgbClr val="791F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503669" y="3705605"/>
              <a:ext cx="1691639" cy="777240"/>
            </a:xfrm>
            <a:custGeom>
              <a:avLst/>
              <a:gdLst/>
              <a:ahLst/>
              <a:cxnLst/>
              <a:rect l="l" t="t" r="r" b="b"/>
              <a:pathLst>
                <a:path w="1691640" h="777239">
                  <a:moveTo>
                    <a:pt x="0" y="54864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1636776" y="0"/>
                  </a:lnTo>
                  <a:lnTo>
                    <a:pt x="1658153" y="4304"/>
                  </a:lnTo>
                  <a:lnTo>
                    <a:pt x="1675590" y="16049"/>
                  </a:lnTo>
                  <a:lnTo>
                    <a:pt x="1687335" y="33486"/>
                  </a:lnTo>
                  <a:lnTo>
                    <a:pt x="1691639" y="54864"/>
                  </a:lnTo>
                  <a:lnTo>
                    <a:pt x="1691639" y="722376"/>
                  </a:lnTo>
                  <a:lnTo>
                    <a:pt x="1687335" y="743753"/>
                  </a:lnTo>
                  <a:lnTo>
                    <a:pt x="1675590" y="761190"/>
                  </a:lnTo>
                  <a:lnTo>
                    <a:pt x="1658153" y="772935"/>
                  </a:lnTo>
                  <a:lnTo>
                    <a:pt x="1636776" y="777240"/>
                  </a:lnTo>
                  <a:lnTo>
                    <a:pt x="54863" y="777240"/>
                  </a:lnTo>
                  <a:lnTo>
                    <a:pt x="33486" y="772935"/>
                  </a:lnTo>
                  <a:lnTo>
                    <a:pt x="16049" y="761190"/>
                  </a:lnTo>
                  <a:lnTo>
                    <a:pt x="4304" y="743753"/>
                  </a:lnTo>
                  <a:lnTo>
                    <a:pt x="0" y="722376"/>
                  </a:lnTo>
                  <a:lnTo>
                    <a:pt x="0" y="54864"/>
                  </a:lnTo>
                  <a:close/>
                </a:path>
              </a:pathLst>
            </a:custGeom>
            <a:ln w="13716">
              <a:solidFill>
                <a:srgbClr val="791F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503669" y="3705605"/>
            <a:ext cx="1691639" cy="77724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15"/>
              </a:spcBef>
            </a:pPr>
            <a:endParaRPr sz="105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1050" b="1" dirty="0">
                <a:solidFill>
                  <a:srgbClr val="FFFFFF"/>
                </a:solidFill>
                <a:latin typeface="Calibri"/>
                <a:cs typeface="Calibri"/>
              </a:rPr>
              <a:t>Predict</a:t>
            </a:r>
            <a:r>
              <a:rPr sz="105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b="1" spc="-5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endParaRPr sz="10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050" b="1" dirty="0">
                <a:solidFill>
                  <a:srgbClr val="FFFFFF"/>
                </a:solidFill>
                <a:latin typeface="Calibri"/>
                <a:cs typeface="Calibri"/>
              </a:rPr>
              <a:t>Display</a:t>
            </a:r>
            <a:r>
              <a:rPr sz="105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FFFFFF"/>
                </a:solidFill>
                <a:latin typeface="Calibri"/>
                <a:cs typeface="Calibri"/>
              </a:rPr>
              <a:t>Result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Face</a:t>
            </a:r>
            <a:r>
              <a:rPr spc="-5" dirty="0"/>
              <a:t> </a:t>
            </a:r>
            <a:r>
              <a:rPr spc="-10" dirty="0"/>
              <a:t>Recognition</a:t>
            </a:r>
            <a:r>
              <a:rPr spc="-25" dirty="0"/>
              <a:t> </a:t>
            </a:r>
            <a:r>
              <a:rPr dirty="0"/>
              <a:t>Using</a:t>
            </a:r>
            <a:r>
              <a:rPr spc="15" dirty="0"/>
              <a:t> </a:t>
            </a:r>
            <a:r>
              <a:rPr spc="-10" dirty="0"/>
              <a:t>Python</a:t>
            </a:r>
            <a:r>
              <a:rPr spc="10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10" dirty="0"/>
              <a:t>OpenCV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4" name="object 34"/>
          <p:cNvSpPr txBox="1"/>
          <p:nvPr/>
        </p:nvSpPr>
        <p:spPr>
          <a:xfrm>
            <a:off x="627684" y="5599659"/>
            <a:ext cx="10459720" cy="464184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50" i="1" dirty="0">
                <a:solidFill>
                  <a:srgbClr val="6B6B6B"/>
                </a:solidFill>
                <a:latin typeface="Calibri"/>
                <a:cs typeface="Calibri"/>
              </a:rPr>
              <a:t>Training</a:t>
            </a:r>
            <a:r>
              <a:rPr sz="1150" i="1" spc="9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6B6B"/>
                </a:solidFill>
                <a:latin typeface="Calibri"/>
                <a:cs typeface="Calibri"/>
              </a:rPr>
              <a:t>images</a:t>
            </a:r>
            <a:r>
              <a:rPr sz="1150" i="1" spc="10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6B6B"/>
                </a:solidFill>
                <a:latin typeface="Calibri"/>
                <a:cs typeface="Calibri"/>
              </a:rPr>
              <a:t>are</a:t>
            </a:r>
            <a:r>
              <a:rPr sz="1150" i="1" spc="10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6B6B"/>
                </a:solidFill>
                <a:latin typeface="Calibri"/>
                <a:cs typeface="Calibri"/>
              </a:rPr>
              <a:t>organized</a:t>
            </a:r>
            <a:r>
              <a:rPr sz="1150" i="1" spc="5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6B6B"/>
                </a:solidFill>
                <a:latin typeface="Calibri"/>
                <a:cs typeface="Calibri"/>
              </a:rPr>
              <a:t>by</a:t>
            </a:r>
            <a:r>
              <a:rPr sz="1150" i="1" spc="114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6B6B"/>
                </a:solidFill>
                <a:latin typeface="Calibri"/>
                <a:cs typeface="Calibri"/>
              </a:rPr>
              <a:t>person,</a:t>
            </a:r>
            <a:r>
              <a:rPr sz="1150" i="1" spc="8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6B6B"/>
                </a:solidFill>
                <a:latin typeface="Calibri"/>
                <a:cs typeface="Calibri"/>
              </a:rPr>
              <a:t>faces</a:t>
            </a:r>
            <a:r>
              <a:rPr sz="1150" i="1" spc="6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6B6B"/>
                </a:solidFill>
                <a:latin typeface="Calibri"/>
                <a:cs typeface="Calibri"/>
              </a:rPr>
              <a:t>are</a:t>
            </a:r>
            <a:r>
              <a:rPr sz="1150" i="1" spc="10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6B6B"/>
                </a:solidFill>
                <a:latin typeface="Calibri"/>
                <a:cs typeface="Calibri"/>
              </a:rPr>
              <a:t>detected</a:t>
            </a:r>
            <a:r>
              <a:rPr sz="1150" i="1" spc="5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6B6B"/>
                </a:solidFill>
                <a:latin typeface="Calibri"/>
                <a:cs typeface="Calibri"/>
              </a:rPr>
              <a:t>and</a:t>
            </a:r>
            <a:r>
              <a:rPr sz="1150" i="1" spc="5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6B6B"/>
                </a:solidFill>
                <a:latin typeface="Calibri"/>
                <a:cs typeface="Calibri"/>
              </a:rPr>
              <a:t>cropped,</a:t>
            </a:r>
            <a:r>
              <a:rPr sz="1150" i="1" spc="13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6B6B"/>
                </a:solidFill>
                <a:latin typeface="Calibri"/>
                <a:cs typeface="Calibri"/>
              </a:rPr>
              <a:t>and</a:t>
            </a:r>
            <a:r>
              <a:rPr sz="1150" i="1" spc="5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6B6B"/>
                </a:solidFill>
                <a:latin typeface="Calibri"/>
                <a:cs typeface="Calibri"/>
              </a:rPr>
              <a:t>grayscale</a:t>
            </a:r>
            <a:r>
              <a:rPr sz="1150" i="1" spc="10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6B6B"/>
                </a:solidFill>
                <a:latin typeface="Calibri"/>
                <a:cs typeface="Calibri"/>
              </a:rPr>
              <a:t>crops</a:t>
            </a:r>
            <a:r>
              <a:rPr sz="1150" i="1" spc="6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6B6B"/>
                </a:solidFill>
                <a:latin typeface="Calibri"/>
                <a:cs typeface="Calibri"/>
              </a:rPr>
              <a:t>with</a:t>
            </a:r>
            <a:r>
              <a:rPr sz="1150" i="1" spc="9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6B6B"/>
                </a:solidFill>
                <a:latin typeface="Calibri"/>
                <a:cs typeface="Calibri"/>
              </a:rPr>
              <a:t>labels</a:t>
            </a:r>
            <a:r>
              <a:rPr sz="1150" i="1" spc="2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6B6B"/>
                </a:solidFill>
                <a:latin typeface="Calibri"/>
                <a:cs typeface="Calibri"/>
              </a:rPr>
              <a:t>train</a:t>
            </a:r>
            <a:r>
              <a:rPr sz="1150" i="1" spc="10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6B6B"/>
                </a:solidFill>
                <a:latin typeface="Calibri"/>
                <a:cs typeface="Calibri"/>
              </a:rPr>
              <a:t>the</a:t>
            </a:r>
            <a:r>
              <a:rPr sz="1150" i="1" spc="10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6B6B"/>
                </a:solidFill>
                <a:latin typeface="Calibri"/>
                <a:cs typeface="Calibri"/>
              </a:rPr>
              <a:t>LBPH</a:t>
            </a:r>
            <a:r>
              <a:rPr sz="1150" i="1" spc="114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6B6B"/>
                </a:solidFill>
                <a:latin typeface="Calibri"/>
                <a:cs typeface="Calibri"/>
              </a:rPr>
              <a:t>model.</a:t>
            </a:r>
            <a:r>
              <a:rPr sz="1150" i="1" spc="8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6B6B"/>
                </a:solidFill>
                <a:latin typeface="Calibri"/>
                <a:cs typeface="Calibri"/>
              </a:rPr>
              <a:t>A</a:t>
            </a:r>
            <a:r>
              <a:rPr sz="1150" i="1" spc="10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6B6B"/>
                </a:solidFill>
                <a:latin typeface="Calibri"/>
                <a:cs typeface="Calibri"/>
              </a:rPr>
              <a:t>test</a:t>
            </a:r>
            <a:r>
              <a:rPr sz="1150" i="1" spc="5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6B6B"/>
                </a:solidFill>
                <a:latin typeface="Calibri"/>
                <a:cs typeface="Calibri"/>
              </a:rPr>
              <a:t>image</a:t>
            </a:r>
            <a:r>
              <a:rPr sz="1150" i="1" spc="6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6B6B"/>
                </a:solidFill>
                <a:latin typeface="Calibri"/>
                <a:cs typeface="Calibri"/>
              </a:rPr>
              <a:t>then</a:t>
            </a:r>
            <a:r>
              <a:rPr sz="1150" i="1" spc="10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6B6B"/>
                </a:solidFill>
                <a:latin typeface="Calibri"/>
                <a:cs typeface="Calibri"/>
              </a:rPr>
              <a:t>goes</a:t>
            </a:r>
            <a:r>
              <a:rPr sz="1150" i="1" spc="10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6B6B"/>
                </a:solidFill>
                <a:latin typeface="Calibri"/>
                <a:cs typeface="Calibri"/>
              </a:rPr>
              <a:t>through</a:t>
            </a:r>
            <a:r>
              <a:rPr sz="1150" i="1" spc="10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6B6B"/>
                </a:solidFill>
                <a:latin typeface="Calibri"/>
                <a:cs typeface="Calibri"/>
              </a:rPr>
              <a:t>the</a:t>
            </a:r>
            <a:r>
              <a:rPr sz="1150" i="1" spc="10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150" i="1" spc="-20" dirty="0">
                <a:solidFill>
                  <a:srgbClr val="6B6B6B"/>
                </a:solidFill>
                <a:latin typeface="Calibri"/>
                <a:cs typeface="Calibri"/>
              </a:rPr>
              <a:t>same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200" i="1" dirty="0">
                <a:solidFill>
                  <a:srgbClr val="6B6B6B"/>
                </a:solidFill>
                <a:latin typeface="Calibri"/>
                <a:cs typeface="Calibri"/>
              </a:rPr>
              <a:t>detection</a:t>
            </a:r>
            <a:r>
              <a:rPr sz="1200" i="1" spc="-5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6B6B6B"/>
                </a:solidFill>
                <a:latin typeface="Calibri"/>
                <a:cs typeface="Calibri"/>
              </a:rPr>
              <a:t>step</a:t>
            </a:r>
            <a:r>
              <a:rPr sz="1200" i="1" spc="-5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6B6B6B"/>
                </a:solidFill>
                <a:latin typeface="Calibri"/>
                <a:cs typeface="Calibri"/>
              </a:rPr>
              <a:t>before</a:t>
            </a:r>
            <a:r>
              <a:rPr sz="1200" i="1" spc="-4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6B6B6B"/>
                </a:solidFill>
                <a:latin typeface="Calibri"/>
                <a:cs typeface="Calibri"/>
              </a:rPr>
              <a:t>the</a:t>
            </a:r>
            <a:r>
              <a:rPr sz="1200" i="1" spc="-2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6B6B6B"/>
                </a:solidFill>
                <a:latin typeface="Calibri"/>
                <a:cs typeface="Calibri"/>
              </a:rPr>
              <a:t>trained</a:t>
            </a:r>
            <a:r>
              <a:rPr sz="1200" i="1" spc="-1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6B6B6B"/>
                </a:solidFill>
                <a:latin typeface="Calibri"/>
                <a:cs typeface="Calibri"/>
              </a:rPr>
              <a:t>model</a:t>
            </a:r>
            <a:r>
              <a:rPr sz="1200" i="1" spc="-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6B6B6B"/>
                </a:solidFill>
                <a:latin typeface="Calibri"/>
                <a:cs typeface="Calibri"/>
              </a:rPr>
              <a:t>predicts</a:t>
            </a:r>
            <a:r>
              <a:rPr sz="1200" i="1" spc="-5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6B6B6B"/>
                </a:solidFill>
                <a:latin typeface="Calibri"/>
                <a:cs typeface="Calibri"/>
              </a:rPr>
              <a:t>its</a:t>
            </a:r>
            <a:r>
              <a:rPr sz="1200" i="1" spc="-5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6B6B6B"/>
                </a:solidFill>
                <a:latin typeface="Calibri"/>
                <a:cs typeface="Calibri"/>
              </a:rPr>
              <a:t>label.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Methodology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35508" y="1824227"/>
            <a:ext cx="471170" cy="471170"/>
            <a:chOff x="635508" y="1824227"/>
            <a:chExt cx="471170" cy="471170"/>
          </a:xfrm>
        </p:grpSpPr>
        <p:sp>
          <p:nvSpPr>
            <p:cNvPr id="4" name="object 4"/>
            <p:cNvSpPr/>
            <p:nvPr/>
          </p:nvSpPr>
          <p:spPr>
            <a:xfrm>
              <a:off x="642366" y="183108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6"/>
                  </a:lnTo>
                  <a:lnTo>
                    <a:pt x="100788" y="39045"/>
                  </a:lnTo>
                  <a:lnTo>
                    <a:pt x="66955" y="66960"/>
                  </a:lnTo>
                  <a:lnTo>
                    <a:pt x="39041" y="100793"/>
                  </a:lnTo>
                  <a:lnTo>
                    <a:pt x="17964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4" y="317575"/>
                  </a:lnTo>
                  <a:lnTo>
                    <a:pt x="39041" y="356406"/>
                  </a:lnTo>
                  <a:lnTo>
                    <a:pt x="66955" y="390239"/>
                  </a:lnTo>
                  <a:lnTo>
                    <a:pt x="100788" y="418154"/>
                  </a:lnTo>
                  <a:lnTo>
                    <a:pt x="139619" y="439233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70" y="452555"/>
                  </a:lnTo>
                  <a:lnTo>
                    <a:pt x="317580" y="439233"/>
                  </a:lnTo>
                  <a:lnTo>
                    <a:pt x="356411" y="418154"/>
                  </a:lnTo>
                  <a:lnTo>
                    <a:pt x="390244" y="390239"/>
                  </a:lnTo>
                  <a:lnTo>
                    <a:pt x="418158" y="356406"/>
                  </a:lnTo>
                  <a:lnTo>
                    <a:pt x="439235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5" y="139624"/>
                  </a:lnTo>
                  <a:lnTo>
                    <a:pt x="418158" y="100793"/>
                  </a:lnTo>
                  <a:lnTo>
                    <a:pt x="390244" y="66960"/>
                  </a:lnTo>
                  <a:lnTo>
                    <a:pt x="356411" y="39045"/>
                  </a:lnTo>
                  <a:lnTo>
                    <a:pt x="317580" y="17966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1E27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2366" y="183108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4" y="139624"/>
                  </a:lnTo>
                  <a:lnTo>
                    <a:pt x="39041" y="100793"/>
                  </a:lnTo>
                  <a:lnTo>
                    <a:pt x="66955" y="66960"/>
                  </a:lnTo>
                  <a:lnTo>
                    <a:pt x="100788" y="39045"/>
                  </a:lnTo>
                  <a:lnTo>
                    <a:pt x="139619" y="17966"/>
                  </a:lnTo>
                  <a:lnTo>
                    <a:pt x="182529" y="4644"/>
                  </a:lnTo>
                  <a:lnTo>
                    <a:pt x="228600" y="0"/>
                  </a:lnTo>
                  <a:lnTo>
                    <a:pt x="274670" y="4644"/>
                  </a:lnTo>
                  <a:lnTo>
                    <a:pt x="317580" y="17966"/>
                  </a:lnTo>
                  <a:lnTo>
                    <a:pt x="356411" y="39045"/>
                  </a:lnTo>
                  <a:lnTo>
                    <a:pt x="390244" y="66960"/>
                  </a:lnTo>
                  <a:lnTo>
                    <a:pt x="418158" y="100793"/>
                  </a:lnTo>
                  <a:lnTo>
                    <a:pt x="439235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5" y="317575"/>
                  </a:lnTo>
                  <a:lnTo>
                    <a:pt x="418158" y="356406"/>
                  </a:lnTo>
                  <a:lnTo>
                    <a:pt x="390244" y="390239"/>
                  </a:lnTo>
                  <a:lnTo>
                    <a:pt x="356411" y="418154"/>
                  </a:lnTo>
                  <a:lnTo>
                    <a:pt x="317580" y="439233"/>
                  </a:lnTo>
                  <a:lnTo>
                    <a:pt x="274670" y="452555"/>
                  </a:lnTo>
                  <a:lnTo>
                    <a:pt x="228600" y="457200"/>
                  </a:lnTo>
                  <a:lnTo>
                    <a:pt x="182529" y="452555"/>
                  </a:lnTo>
                  <a:lnTo>
                    <a:pt x="139619" y="439233"/>
                  </a:lnTo>
                  <a:lnTo>
                    <a:pt x="100788" y="418154"/>
                  </a:lnTo>
                  <a:lnTo>
                    <a:pt x="66955" y="390239"/>
                  </a:lnTo>
                  <a:lnTo>
                    <a:pt x="39041" y="356406"/>
                  </a:lnTo>
                  <a:lnTo>
                    <a:pt x="17964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13716">
              <a:solidFill>
                <a:srgbClr val="1E27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96848" y="1918208"/>
            <a:ext cx="13970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2349" y="1936826"/>
            <a:ext cx="147510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2B2B2B"/>
                </a:solidFill>
                <a:latin typeface="Calibri"/>
                <a:cs typeface="Calibri"/>
              </a:rPr>
              <a:t>Requirement</a:t>
            </a:r>
            <a:r>
              <a:rPr sz="1300" spc="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B2B2B"/>
                </a:solidFill>
                <a:latin typeface="Calibri"/>
                <a:cs typeface="Calibri"/>
              </a:rPr>
              <a:t>Analysis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379976" y="1824227"/>
            <a:ext cx="471170" cy="471170"/>
            <a:chOff x="4379976" y="1824227"/>
            <a:chExt cx="471170" cy="471170"/>
          </a:xfrm>
        </p:grpSpPr>
        <p:sp>
          <p:nvSpPr>
            <p:cNvPr id="9" name="object 9"/>
            <p:cNvSpPr/>
            <p:nvPr/>
          </p:nvSpPr>
          <p:spPr>
            <a:xfrm>
              <a:off x="4386834" y="183108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1E27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86834" y="183108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13716">
              <a:solidFill>
                <a:srgbClr val="1E27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541265" y="1918208"/>
            <a:ext cx="13970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66461" y="1936826"/>
            <a:ext cx="142430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Dataset</a:t>
            </a:r>
            <a:r>
              <a:rPr sz="1300" spc="-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B2B2B"/>
                </a:solidFill>
                <a:latin typeface="Calibri"/>
                <a:cs typeface="Calibri"/>
              </a:rPr>
              <a:t>Organization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119871" y="1824227"/>
            <a:ext cx="471170" cy="471170"/>
            <a:chOff x="8119871" y="1824227"/>
            <a:chExt cx="471170" cy="471170"/>
          </a:xfrm>
        </p:grpSpPr>
        <p:sp>
          <p:nvSpPr>
            <p:cNvPr id="14" name="object 14"/>
            <p:cNvSpPr/>
            <p:nvPr/>
          </p:nvSpPr>
          <p:spPr>
            <a:xfrm>
              <a:off x="8126729" y="183108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1E27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126729" y="183108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13716">
              <a:solidFill>
                <a:srgbClr val="1E27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285480" y="1918208"/>
            <a:ext cx="13970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710930" y="1936826"/>
            <a:ext cx="102235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Face</a:t>
            </a:r>
            <a:r>
              <a:rPr sz="1300" spc="-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B2B2B"/>
                </a:solidFill>
                <a:latin typeface="Calibri"/>
                <a:cs typeface="Calibri"/>
              </a:rPr>
              <a:t>Detection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35508" y="3195827"/>
            <a:ext cx="471170" cy="471170"/>
            <a:chOff x="635508" y="3195827"/>
            <a:chExt cx="471170" cy="471170"/>
          </a:xfrm>
        </p:grpSpPr>
        <p:sp>
          <p:nvSpPr>
            <p:cNvPr id="19" name="object 19"/>
            <p:cNvSpPr/>
            <p:nvPr/>
          </p:nvSpPr>
          <p:spPr>
            <a:xfrm>
              <a:off x="642366" y="320268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6"/>
                  </a:lnTo>
                  <a:lnTo>
                    <a:pt x="100788" y="39045"/>
                  </a:lnTo>
                  <a:lnTo>
                    <a:pt x="66955" y="66960"/>
                  </a:lnTo>
                  <a:lnTo>
                    <a:pt x="39041" y="100793"/>
                  </a:lnTo>
                  <a:lnTo>
                    <a:pt x="17964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4" y="317575"/>
                  </a:lnTo>
                  <a:lnTo>
                    <a:pt x="39041" y="356406"/>
                  </a:lnTo>
                  <a:lnTo>
                    <a:pt x="66955" y="390239"/>
                  </a:lnTo>
                  <a:lnTo>
                    <a:pt x="100788" y="418154"/>
                  </a:lnTo>
                  <a:lnTo>
                    <a:pt x="139619" y="439233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70" y="452555"/>
                  </a:lnTo>
                  <a:lnTo>
                    <a:pt x="317580" y="439233"/>
                  </a:lnTo>
                  <a:lnTo>
                    <a:pt x="356411" y="418154"/>
                  </a:lnTo>
                  <a:lnTo>
                    <a:pt x="390244" y="390239"/>
                  </a:lnTo>
                  <a:lnTo>
                    <a:pt x="418158" y="356406"/>
                  </a:lnTo>
                  <a:lnTo>
                    <a:pt x="439235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5" y="139624"/>
                  </a:lnTo>
                  <a:lnTo>
                    <a:pt x="418158" y="100793"/>
                  </a:lnTo>
                  <a:lnTo>
                    <a:pt x="390244" y="66960"/>
                  </a:lnTo>
                  <a:lnTo>
                    <a:pt x="356411" y="39045"/>
                  </a:lnTo>
                  <a:lnTo>
                    <a:pt x="317580" y="17966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1E27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42366" y="320268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4" y="139624"/>
                  </a:lnTo>
                  <a:lnTo>
                    <a:pt x="39041" y="100793"/>
                  </a:lnTo>
                  <a:lnTo>
                    <a:pt x="66955" y="66960"/>
                  </a:lnTo>
                  <a:lnTo>
                    <a:pt x="100788" y="39045"/>
                  </a:lnTo>
                  <a:lnTo>
                    <a:pt x="139619" y="17966"/>
                  </a:lnTo>
                  <a:lnTo>
                    <a:pt x="182529" y="4644"/>
                  </a:lnTo>
                  <a:lnTo>
                    <a:pt x="228600" y="0"/>
                  </a:lnTo>
                  <a:lnTo>
                    <a:pt x="274670" y="4644"/>
                  </a:lnTo>
                  <a:lnTo>
                    <a:pt x="317580" y="17966"/>
                  </a:lnTo>
                  <a:lnTo>
                    <a:pt x="356411" y="39045"/>
                  </a:lnTo>
                  <a:lnTo>
                    <a:pt x="390244" y="66960"/>
                  </a:lnTo>
                  <a:lnTo>
                    <a:pt x="418158" y="100793"/>
                  </a:lnTo>
                  <a:lnTo>
                    <a:pt x="439235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5" y="317575"/>
                  </a:lnTo>
                  <a:lnTo>
                    <a:pt x="418158" y="356406"/>
                  </a:lnTo>
                  <a:lnTo>
                    <a:pt x="390244" y="390239"/>
                  </a:lnTo>
                  <a:lnTo>
                    <a:pt x="356411" y="418154"/>
                  </a:lnTo>
                  <a:lnTo>
                    <a:pt x="317580" y="439233"/>
                  </a:lnTo>
                  <a:lnTo>
                    <a:pt x="274670" y="452555"/>
                  </a:lnTo>
                  <a:lnTo>
                    <a:pt x="228600" y="457200"/>
                  </a:lnTo>
                  <a:lnTo>
                    <a:pt x="182529" y="452555"/>
                  </a:lnTo>
                  <a:lnTo>
                    <a:pt x="139619" y="439233"/>
                  </a:lnTo>
                  <a:lnTo>
                    <a:pt x="100788" y="418154"/>
                  </a:lnTo>
                  <a:lnTo>
                    <a:pt x="66955" y="390239"/>
                  </a:lnTo>
                  <a:lnTo>
                    <a:pt x="39041" y="356406"/>
                  </a:lnTo>
                  <a:lnTo>
                    <a:pt x="17964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13716">
              <a:solidFill>
                <a:srgbClr val="1E27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96848" y="3290697"/>
            <a:ext cx="13970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22349" y="3309315"/>
            <a:ext cx="104457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Face</a:t>
            </a:r>
            <a:r>
              <a:rPr sz="1300" spc="-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B2B2B"/>
                </a:solidFill>
                <a:latin typeface="Calibri"/>
                <a:cs typeface="Calibri"/>
              </a:rPr>
              <a:t>Extraction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379976" y="3195827"/>
            <a:ext cx="471170" cy="471170"/>
            <a:chOff x="4379976" y="3195827"/>
            <a:chExt cx="471170" cy="471170"/>
          </a:xfrm>
        </p:grpSpPr>
        <p:sp>
          <p:nvSpPr>
            <p:cNvPr id="24" name="object 24"/>
            <p:cNvSpPr/>
            <p:nvPr/>
          </p:nvSpPr>
          <p:spPr>
            <a:xfrm>
              <a:off x="4386834" y="320268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1E27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86834" y="320268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13716">
              <a:solidFill>
                <a:srgbClr val="1E27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541265" y="3290697"/>
            <a:ext cx="13970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66461" y="3309315"/>
            <a:ext cx="117284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Label</a:t>
            </a:r>
            <a:r>
              <a:rPr sz="1300" spc="-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B2B2B"/>
                </a:solidFill>
                <a:latin typeface="Calibri"/>
                <a:cs typeface="Calibri"/>
              </a:rPr>
              <a:t>Generation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119871" y="3195827"/>
            <a:ext cx="471170" cy="471170"/>
            <a:chOff x="8119871" y="3195827"/>
            <a:chExt cx="471170" cy="471170"/>
          </a:xfrm>
        </p:grpSpPr>
        <p:sp>
          <p:nvSpPr>
            <p:cNvPr id="29" name="object 29"/>
            <p:cNvSpPr/>
            <p:nvPr/>
          </p:nvSpPr>
          <p:spPr>
            <a:xfrm>
              <a:off x="8126729" y="320268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1E27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26729" y="320268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13716">
              <a:solidFill>
                <a:srgbClr val="1E27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285480" y="3290697"/>
            <a:ext cx="13970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spc="-50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710930" y="3309315"/>
            <a:ext cx="8890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CSV</a:t>
            </a:r>
            <a:r>
              <a:rPr sz="1300" spc="-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B2B2B"/>
                </a:solidFill>
                <a:latin typeface="Calibri"/>
                <a:cs typeface="Calibri"/>
              </a:rPr>
              <a:t>Creation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35508" y="4567428"/>
            <a:ext cx="471170" cy="471170"/>
            <a:chOff x="635508" y="4567428"/>
            <a:chExt cx="471170" cy="471170"/>
          </a:xfrm>
        </p:grpSpPr>
        <p:sp>
          <p:nvSpPr>
            <p:cNvPr id="34" name="object 34"/>
            <p:cNvSpPr/>
            <p:nvPr/>
          </p:nvSpPr>
          <p:spPr>
            <a:xfrm>
              <a:off x="642366" y="457428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6"/>
                  </a:lnTo>
                  <a:lnTo>
                    <a:pt x="100788" y="39045"/>
                  </a:lnTo>
                  <a:lnTo>
                    <a:pt x="66955" y="66960"/>
                  </a:lnTo>
                  <a:lnTo>
                    <a:pt x="39041" y="100793"/>
                  </a:lnTo>
                  <a:lnTo>
                    <a:pt x="17964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4" y="317575"/>
                  </a:lnTo>
                  <a:lnTo>
                    <a:pt x="39041" y="356406"/>
                  </a:lnTo>
                  <a:lnTo>
                    <a:pt x="66955" y="390239"/>
                  </a:lnTo>
                  <a:lnTo>
                    <a:pt x="100788" y="418154"/>
                  </a:lnTo>
                  <a:lnTo>
                    <a:pt x="139619" y="439233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70" y="452555"/>
                  </a:lnTo>
                  <a:lnTo>
                    <a:pt x="317580" y="439233"/>
                  </a:lnTo>
                  <a:lnTo>
                    <a:pt x="356411" y="418154"/>
                  </a:lnTo>
                  <a:lnTo>
                    <a:pt x="390244" y="390239"/>
                  </a:lnTo>
                  <a:lnTo>
                    <a:pt x="418158" y="356406"/>
                  </a:lnTo>
                  <a:lnTo>
                    <a:pt x="439235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5" y="139624"/>
                  </a:lnTo>
                  <a:lnTo>
                    <a:pt x="418158" y="100793"/>
                  </a:lnTo>
                  <a:lnTo>
                    <a:pt x="390244" y="66960"/>
                  </a:lnTo>
                  <a:lnTo>
                    <a:pt x="356411" y="39045"/>
                  </a:lnTo>
                  <a:lnTo>
                    <a:pt x="317580" y="17966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1E27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42366" y="457428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4" y="139624"/>
                  </a:lnTo>
                  <a:lnTo>
                    <a:pt x="39041" y="100793"/>
                  </a:lnTo>
                  <a:lnTo>
                    <a:pt x="66955" y="66960"/>
                  </a:lnTo>
                  <a:lnTo>
                    <a:pt x="100788" y="39045"/>
                  </a:lnTo>
                  <a:lnTo>
                    <a:pt x="139619" y="17966"/>
                  </a:lnTo>
                  <a:lnTo>
                    <a:pt x="182529" y="4644"/>
                  </a:lnTo>
                  <a:lnTo>
                    <a:pt x="228600" y="0"/>
                  </a:lnTo>
                  <a:lnTo>
                    <a:pt x="274670" y="4644"/>
                  </a:lnTo>
                  <a:lnTo>
                    <a:pt x="317580" y="17966"/>
                  </a:lnTo>
                  <a:lnTo>
                    <a:pt x="356411" y="39045"/>
                  </a:lnTo>
                  <a:lnTo>
                    <a:pt x="390244" y="66960"/>
                  </a:lnTo>
                  <a:lnTo>
                    <a:pt x="418158" y="100793"/>
                  </a:lnTo>
                  <a:lnTo>
                    <a:pt x="439235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5" y="317575"/>
                  </a:lnTo>
                  <a:lnTo>
                    <a:pt x="418158" y="356406"/>
                  </a:lnTo>
                  <a:lnTo>
                    <a:pt x="390244" y="390239"/>
                  </a:lnTo>
                  <a:lnTo>
                    <a:pt x="356411" y="418154"/>
                  </a:lnTo>
                  <a:lnTo>
                    <a:pt x="317580" y="439233"/>
                  </a:lnTo>
                  <a:lnTo>
                    <a:pt x="274670" y="452555"/>
                  </a:lnTo>
                  <a:lnTo>
                    <a:pt x="228600" y="457200"/>
                  </a:lnTo>
                  <a:lnTo>
                    <a:pt x="182529" y="452555"/>
                  </a:lnTo>
                  <a:lnTo>
                    <a:pt x="139619" y="439233"/>
                  </a:lnTo>
                  <a:lnTo>
                    <a:pt x="100788" y="418154"/>
                  </a:lnTo>
                  <a:lnTo>
                    <a:pt x="66955" y="390239"/>
                  </a:lnTo>
                  <a:lnTo>
                    <a:pt x="39041" y="356406"/>
                  </a:lnTo>
                  <a:lnTo>
                    <a:pt x="17964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13716">
              <a:solidFill>
                <a:srgbClr val="1E27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96848" y="4663185"/>
            <a:ext cx="13970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spc="-50" dirty="0">
                <a:solidFill>
                  <a:srgbClr val="FFFFFF"/>
                </a:solidFill>
                <a:latin typeface="Cambria"/>
                <a:cs typeface="Cambria"/>
              </a:rPr>
              <a:t>7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222349" y="4681804"/>
            <a:ext cx="141033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Image</a:t>
            </a:r>
            <a:r>
              <a:rPr sz="1300" spc="-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B2B2B"/>
                </a:solidFill>
                <a:latin typeface="Calibri"/>
                <a:cs typeface="Calibri"/>
              </a:rPr>
              <a:t>Preprocessing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379976" y="4567428"/>
            <a:ext cx="471170" cy="471170"/>
            <a:chOff x="4379976" y="4567428"/>
            <a:chExt cx="471170" cy="471170"/>
          </a:xfrm>
        </p:grpSpPr>
        <p:sp>
          <p:nvSpPr>
            <p:cNvPr id="39" name="object 39"/>
            <p:cNvSpPr/>
            <p:nvPr/>
          </p:nvSpPr>
          <p:spPr>
            <a:xfrm>
              <a:off x="4386834" y="457428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1E27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386834" y="457428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13716">
              <a:solidFill>
                <a:srgbClr val="1E27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4541265" y="4663185"/>
            <a:ext cx="13970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spc="-50" dirty="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966461" y="4681804"/>
            <a:ext cx="141986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LBPH</a:t>
            </a:r>
            <a:r>
              <a:rPr sz="1300" spc="-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Model</a:t>
            </a:r>
            <a:r>
              <a:rPr sz="1300" spc="-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B2B2B"/>
                </a:solidFill>
                <a:latin typeface="Calibri"/>
                <a:cs typeface="Calibri"/>
              </a:rPr>
              <a:t>Training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8119871" y="4567428"/>
            <a:ext cx="471170" cy="471170"/>
            <a:chOff x="8119871" y="4567428"/>
            <a:chExt cx="471170" cy="471170"/>
          </a:xfrm>
        </p:grpSpPr>
        <p:sp>
          <p:nvSpPr>
            <p:cNvPr id="44" name="object 44"/>
            <p:cNvSpPr/>
            <p:nvPr/>
          </p:nvSpPr>
          <p:spPr>
            <a:xfrm>
              <a:off x="8126729" y="457428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1E27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126729" y="457428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13716">
              <a:solidFill>
                <a:srgbClr val="1E27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8285480" y="4663185"/>
            <a:ext cx="13970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spc="-50" dirty="0">
                <a:solidFill>
                  <a:srgbClr val="FFFFFF"/>
                </a:solidFill>
                <a:latin typeface="Cambria"/>
                <a:cs typeface="Cambria"/>
              </a:rPr>
              <a:t>9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Face</a:t>
            </a:r>
            <a:r>
              <a:rPr spc="-5" dirty="0"/>
              <a:t> </a:t>
            </a:r>
            <a:r>
              <a:rPr spc="-10" dirty="0"/>
              <a:t>Recognition</a:t>
            </a:r>
            <a:r>
              <a:rPr spc="-25" dirty="0"/>
              <a:t> </a:t>
            </a:r>
            <a:r>
              <a:rPr dirty="0"/>
              <a:t>Using</a:t>
            </a:r>
            <a:r>
              <a:rPr spc="15" dirty="0"/>
              <a:t> </a:t>
            </a:r>
            <a:r>
              <a:rPr spc="-10" dirty="0"/>
              <a:t>Python</a:t>
            </a:r>
            <a:r>
              <a:rPr spc="10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10" dirty="0"/>
              <a:t>OpenCV</a:t>
            </a: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47" name="object 47"/>
          <p:cNvSpPr txBox="1"/>
          <p:nvPr/>
        </p:nvSpPr>
        <p:spPr>
          <a:xfrm>
            <a:off x="8710930" y="4681804"/>
            <a:ext cx="18288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Prediction</a:t>
            </a:r>
            <a:r>
              <a:rPr sz="1300" spc="-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&amp;</a:t>
            </a:r>
            <a:r>
              <a:rPr sz="1300" spc="-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Result</a:t>
            </a:r>
            <a:r>
              <a:rPr sz="1300" spc="-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B2B2B"/>
                </a:solidFill>
                <a:latin typeface="Calibri"/>
                <a:cs typeface="Calibri"/>
              </a:rPr>
              <a:t>Display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Face</a:t>
            </a:r>
            <a:r>
              <a:rPr spc="-5" dirty="0"/>
              <a:t> </a:t>
            </a:r>
            <a:r>
              <a:rPr spc="-10" dirty="0"/>
              <a:t>Recognition</a:t>
            </a:r>
            <a:r>
              <a:rPr spc="-25" dirty="0"/>
              <a:t> </a:t>
            </a:r>
            <a:r>
              <a:rPr dirty="0"/>
              <a:t>Using</a:t>
            </a:r>
            <a:r>
              <a:rPr spc="15" dirty="0"/>
              <a:t> </a:t>
            </a:r>
            <a:r>
              <a:rPr spc="-10" dirty="0"/>
              <a:t>Python</a:t>
            </a:r>
            <a:r>
              <a:rPr spc="10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10" dirty="0"/>
              <a:t>OpenCV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Scope</a:t>
            </a:r>
            <a:r>
              <a:rPr spc="-45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spc="-10" dirty="0"/>
              <a:t>Limitations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7684" y="1313265"/>
            <a:ext cx="2969895" cy="236410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700" b="1" spc="-10" dirty="0">
                <a:solidFill>
                  <a:srgbClr val="791F2B"/>
                </a:solidFill>
                <a:latin typeface="Cambria"/>
                <a:cs typeface="Cambria"/>
              </a:rPr>
              <a:t>Current</a:t>
            </a:r>
            <a:r>
              <a:rPr sz="1700" b="1" spc="-35" dirty="0">
                <a:solidFill>
                  <a:srgbClr val="791F2B"/>
                </a:solidFill>
                <a:latin typeface="Cambria"/>
                <a:cs typeface="Cambria"/>
              </a:rPr>
              <a:t> </a:t>
            </a:r>
            <a:r>
              <a:rPr sz="1700" b="1" spc="-20" dirty="0">
                <a:solidFill>
                  <a:srgbClr val="791F2B"/>
                </a:solidFill>
                <a:latin typeface="Cambria"/>
                <a:cs typeface="Cambria"/>
              </a:rPr>
              <a:t>Scope</a:t>
            </a:r>
            <a:endParaRPr sz="17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45"/>
              </a:spcBef>
              <a:buChar char="•"/>
              <a:tabLst>
                <a:tab pos="354965" algn="l"/>
              </a:tabLst>
            </a:pPr>
            <a:r>
              <a:rPr sz="1250" spc="-10" dirty="0">
                <a:solidFill>
                  <a:srgbClr val="2B2B2B"/>
                </a:solidFill>
                <a:latin typeface="Calibri"/>
                <a:cs typeface="Calibri"/>
              </a:rPr>
              <a:t>Training</a:t>
            </a:r>
            <a:r>
              <a:rPr sz="1250" spc="-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images</a:t>
            </a:r>
            <a:r>
              <a:rPr sz="1250" spc="-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B2B2B"/>
                </a:solidFill>
                <a:latin typeface="Calibri"/>
                <a:cs typeface="Calibri"/>
              </a:rPr>
              <a:t>organized</a:t>
            </a:r>
            <a:r>
              <a:rPr sz="1250" spc="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by</a:t>
            </a:r>
            <a:r>
              <a:rPr sz="1250" spc="-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B2B2B"/>
                </a:solidFill>
                <a:latin typeface="Calibri"/>
                <a:cs typeface="Calibri"/>
              </a:rPr>
              <a:t>person</a:t>
            </a:r>
            <a:endParaRPr sz="12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35"/>
              </a:spcBef>
              <a:buChar char="•"/>
              <a:tabLst>
                <a:tab pos="354965" algn="l"/>
              </a:tabLst>
            </a:pP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Haar</a:t>
            </a:r>
            <a:r>
              <a:rPr sz="1250" spc="-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Cascade</a:t>
            </a:r>
            <a:r>
              <a:rPr sz="1250" spc="-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face</a:t>
            </a:r>
            <a:r>
              <a:rPr sz="1250" spc="-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B2B2B"/>
                </a:solidFill>
                <a:latin typeface="Calibri"/>
                <a:cs typeface="Calibri"/>
              </a:rPr>
              <a:t>detection</a:t>
            </a:r>
            <a:endParaRPr sz="12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Char char="•"/>
              <a:tabLst>
                <a:tab pos="354965" algn="l"/>
              </a:tabLst>
            </a:pP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Cropping</a:t>
            </a:r>
            <a:r>
              <a:rPr sz="1250" spc="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of</a:t>
            </a:r>
            <a:r>
              <a:rPr sz="1250" spc="-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B2B2B"/>
                </a:solidFill>
                <a:latin typeface="Calibri"/>
                <a:cs typeface="Calibri"/>
              </a:rPr>
              <a:t>detected</a:t>
            </a:r>
            <a:r>
              <a:rPr sz="1250" spc="-6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2B2B2B"/>
                </a:solidFill>
                <a:latin typeface="Calibri"/>
                <a:cs typeface="Calibri"/>
              </a:rPr>
              <a:t>faces</a:t>
            </a:r>
            <a:endParaRPr sz="12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35"/>
              </a:spcBef>
              <a:buChar char="•"/>
              <a:tabLst>
                <a:tab pos="354965" algn="l"/>
              </a:tabLst>
            </a:pP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CSV-</a:t>
            </a:r>
            <a:r>
              <a:rPr sz="1250" spc="-10" dirty="0">
                <a:solidFill>
                  <a:srgbClr val="2B2B2B"/>
                </a:solidFill>
                <a:latin typeface="Calibri"/>
                <a:cs typeface="Calibri"/>
              </a:rPr>
              <a:t>based</a:t>
            </a:r>
            <a:r>
              <a:rPr sz="1250" spc="-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label</a:t>
            </a:r>
            <a:r>
              <a:rPr sz="1250" spc="-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B2B2B"/>
                </a:solidFill>
                <a:latin typeface="Calibri"/>
                <a:cs typeface="Calibri"/>
              </a:rPr>
              <a:t>management</a:t>
            </a:r>
            <a:endParaRPr sz="12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40"/>
              </a:spcBef>
              <a:buChar char="•"/>
              <a:tabLst>
                <a:tab pos="354965" algn="l"/>
              </a:tabLst>
            </a:pPr>
            <a:r>
              <a:rPr sz="1250" spc="-10" dirty="0">
                <a:solidFill>
                  <a:srgbClr val="2B2B2B"/>
                </a:solidFill>
                <a:latin typeface="Calibri"/>
                <a:cs typeface="Calibri"/>
              </a:rPr>
              <a:t>Grayscale</a:t>
            </a:r>
            <a:r>
              <a:rPr sz="1250" spc="-8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B2B2B"/>
                </a:solidFill>
                <a:latin typeface="Calibri"/>
                <a:cs typeface="Calibri"/>
              </a:rPr>
              <a:t>preprocessing</a:t>
            </a:r>
            <a:r>
              <a:rPr sz="1250" spc="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&amp;</a:t>
            </a:r>
            <a:r>
              <a:rPr sz="1250" spc="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LBPH</a:t>
            </a:r>
            <a:r>
              <a:rPr sz="1250" spc="-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B2B2B"/>
                </a:solidFill>
                <a:latin typeface="Calibri"/>
                <a:cs typeface="Calibri"/>
              </a:rPr>
              <a:t>training</a:t>
            </a:r>
            <a:endParaRPr sz="12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Char char="•"/>
              <a:tabLst>
                <a:tab pos="354965" algn="l"/>
              </a:tabLst>
            </a:pPr>
            <a:r>
              <a:rPr sz="1250" spc="-20" dirty="0">
                <a:solidFill>
                  <a:srgbClr val="2B2B2B"/>
                </a:solidFill>
                <a:latin typeface="Calibri"/>
                <a:cs typeface="Calibri"/>
              </a:rPr>
              <a:t>Bounding-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box</a:t>
            </a:r>
            <a:r>
              <a:rPr sz="1250" spc="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sz="1250" spc="-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label</a:t>
            </a:r>
            <a:r>
              <a:rPr sz="1250" spc="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B2B2B"/>
                </a:solidFill>
                <a:latin typeface="Calibri"/>
                <a:cs typeface="Calibri"/>
              </a:rPr>
              <a:t>visualization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12789" y="1313265"/>
            <a:ext cx="4024629" cy="236410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700" b="1" spc="-10" dirty="0">
                <a:solidFill>
                  <a:srgbClr val="791F2B"/>
                </a:solidFill>
                <a:latin typeface="Cambria"/>
                <a:cs typeface="Cambria"/>
              </a:rPr>
              <a:t>Limitations</a:t>
            </a:r>
            <a:endParaRPr sz="17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45"/>
              </a:spcBef>
              <a:buChar char="•"/>
              <a:tabLst>
                <a:tab pos="354965" algn="l"/>
              </a:tabLst>
            </a:pPr>
            <a:r>
              <a:rPr sz="1250" spc="-10" dirty="0">
                <a:solidFill>
                  <a:srgbClr val="2B2B2B"/>
                </a:solidFill>
                <a:latin typeface="Calibri"/>
                <a:cs typeface="Calibri"/>
              </a:rPr>
              <a:t>Works</a:t>
            </a:r>
            <a:r>
              <a:rPr sz="1250" spc="-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with</a:t>
            </a:r>
            <a:r>
              <a:rPr sz="1250" spc="-7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still</a:t>
            </a:r>
            <a:r>
              <a:rPr sz="1250" spc="-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images,</a:t>
            </a:r>
            <a:r>
              <a:rPr sz="1250" spc="-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not</a:t>
            </a:r>
            <a:r>
              <a:rPr sz="1250" spc="-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continuous</a:t>
            </a:r>
            <a:r>
              <a:rPr sz="1250" spc="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2B2B2B"/>
                </a:solidFill>
                <a:latin typeface="Calibri"/>
                <a:cs typeface="Calibri"/>
              </a:rPr>
              <a:t>video</a:t>
            </a:r>
            <a:endParaRPr sz="12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35"/>
              </a:spcBef>
              <a:buChar char="•"/>
              <a:tabLst>
                <a:tab pos="354965" algn="l"/>
              </a:tabLst>
            </a:pP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Depends</a:t>
            </a:r>
            <a:r>
              <a:rPr sz="1250" spc="-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heavily</a:t>
            </a:r>
            <a:r>
              <a:rPr sz="1250" spc="-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on</a:t>
            </a:r>
            <a:r>
              <a:rPr sz="1250" spc="-10" dirty="0">
                <a:solidFill>
                  <a:srgbClr val="2B2B2B"/>
                </a:solidFill>
                <a:latin typeface="Calibri"/>
                <a:cs typeface="Calibri"/>
              </a:rPr>
              <a:t> training-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dataset</a:t>
            </a:r>
            <a:r>
              <a:rPr sz="1250" spc="-7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B2B2B"/>
                </a:solidFill>
                <a:latin typeface="Calibri"/>
                <a:cs typeface="Calibri"/>
              </a:rPr>
              <a:t>quality</a:t>
            </a:r>
            <a:endParaRPr sz="12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Char char="•"/>
              <a:tabLst>
                <a:tab pos="354965" algn="l"/>
              </a:tabLst>
            </a:pP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Numerical</a:t>
            </a:r>
            <a:r>
              <a:rPr sz="1250" spc="-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label</a:t>
            </a:r>
            <a:r>
              <a:rPr sz="1250" spc="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needs</a:t>
            </a:r>
            <a:r>
              <a:rPr sz="1250" spc="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a</a:t>
            </a:r>
            <a:r>
              <a:rPr sz="1250" spc="-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B2B2B"/>
                </a:solidFill>
                <a:latin typeface="Calibri"/>
                <a:cs typeface="Calibri"/>
              </a:rPr>
              <a:t>separate</a:t>
            </a:r>
            <a:r>
              <a:rPr sz="1250" spc="-6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name</a:t>
            </a:r>
            <a:r>
              <a:rPr sz="1250" spc="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B2B2B"/>
                </a:solidFill>
                <a:latin typeface="Calibri"/>
                <a:cs typeface="Calibri"/>
              </a:rPr>
              <a:t>mapping</a:t>
            </a:r>
            <a:endParaRPr sz="12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35"/>
              </a:spcBef>
              <a:buChar char="•"/>
              <a:tabLst>
                <a:tab pos="354965" algn="l"/>
              </a:tabLst>
            </a:pP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Haar</a:t>
            </a:r>
            <a:r>
              <a:rPr sz="1250" spc="-7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Cascade</a:t>
            </a:r>
            <a:r>
              <a:rPr sz="1250" spc="-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is</a:t>
            </a:r>
            <a:r>
              <a:rPr sz="1250" spc="-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less</a:t>
            </a:r>
            <a:r>
              <a:rPr sz="1250" spc="-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robust</a:t>
            </a:r>
            <a:r>
              <a:rPr sz="1250" spc="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than</a:t>
            </a:r>
            <a:r>
              <a:rPr sz="1250" spc="-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B2B2B"/>
                </a:solidFill>
                <a:latin typeface="Calibri"/>
                <a:cs typeface="Calibri"/>
              </a:rPr>
              <a:t>deep-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learning</a:t>
            </a:r>
            <a:r>
              <a:rPr sz="1250" spc="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B2B2B"/>
                </a:solidFill>
                <a:latin typeface="Calibri"/>
                <a:cs typeface="Calibri"/>
              </a:rPr>
              <a:t>detectors</a:t>
            </a:r>
            <a:endParaRPr sz="12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40"/>
              </a:spcBef>
              <a:buChar char="•"/>
              <a:tabLst>
                <a:tab pos="354965" algn="l"/>
              </a:tabLst>
            </a:pP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No</a:t>
            </a:r>
            <a:r>
              <a:rPr sz="1250" spc="-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graphical</a:t>
            </a:r>
            <a:r>
              <a:rPr sz="1250" spc="-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user</a:t>
            </a:r>
            <a:r>
              <a:rPr sz="1250" spc="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B2B2B"/>
                </a:solidFill>
                <a:latin typeface="Calibri"/>
                <a:cs typeface="Calibri"/>
              </a:rPr>
              <a:t>interface</a:t>
            </a:r>
            <a:r>
              <a:rPr sz="1250" spc="-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B2B2B"/>
                </a:solidFill>
                <a:latin typeface="Calibri"/>
                <a:cs typeface="Calibri"/>
              </a:rPr>
              <a:t>currently</a:t>
            </a:r>
            <a:endParaRPr sz="12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Char char="•"/>
              <a:tabLst>
                <a:tab pos="354965" algn="l"/>
              </a:tabLst>
            </a:pP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No</a:t>
            </a:r>
            <a:r>
              <a:rPr sz="1250" spc="-10" dirty="0">
                <a:solidFill>
                  <a:srgbClr val="2B2B2B"/>
                </a:solidFill>
                <a:latin typeface="Calibri"/>
                <a:cs typeface="Calibri"/>
              </a:rPr>
              <a:t> database</a:t>
            </a:r>
            <a:r>
              <a:rPr sz="1250" spc="-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for</a:t>
            </a:r>
            <a:r>
              <a:rPr sz="1250" spc="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B2B2B"/>
                </a:solidFill>
                <a:latin typeface="Calibri"/>
                <a:cs typeface="Calibri"/>
              </a:rPr>
              <a:t>storing</a:t>
            </a:r>
            <a:r>
              <a:rPr sz="1250" spc="-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user</a:t>
            </a:r>
            <a:r>
              <a:rPr sz="1250" spc="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B2B2B"/>
                </a:solidFill>
                <a:latin typeface="Calibri"/>
                <a:cs typeface="Calibri"/>
              </a:rPr>
              <a:t>profiles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Face</a:t>
            </a:r>
            <a:r>
              <a:rPr spc="-5" dirty="0"/>
              <a:t> </a:t>
            </a:r>
            <a:r>
              <a:rPr spc="-10" dirty="0"/>
              <a:t>Recognition</a:t>
            </a:r>
            <a:r>
              <a:rPr spc="-25" dirty="0"/>
              <a:t> </a:t>
            </a:r>
            <a:r>
              <a:rPr dirty="0"/>
              <a:t>Using</a:t>
            </a:r>
            <a:r>
              <a:rPr spc="15" dirty="0"/>
              <a:t> </a:t>
            </a:r>
            <a:r>
              <a:rPr spc="-10" dirty="0"/>
              <a:t>Python</a:t>
            </a:r>
            <a:r>
              <a:rPr spc="10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10" dirty="0"/>
              <a:t>OpenCV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Future</a:t>
            </a:r>
            <a:r>
              <a:rPr spc="-140" dirty="0"/>
              <a:t> </a:t>
            </a:r>
            <a:r>
              <a:rPr spc="-10" dirty="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7684" y="1456182"/>
            <a:ext cx="3049270" cy="151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</a:tabLst>
            </a:pPr>
            <a:r>
              <a:rPr sz="1400" spc="-20" dirty="0">
                <a:solidFill>
                  <a:srgbClr val="2B2B2B"/>
                </a:solidFill>
                <a:latin typeface="Calibri"/>
                <a:cs typeface="Calibri"/>
              </a:rPr>
              <a:t>Webcam-</a:t>
            </a:r>
            <a:r>
              <a:rPr sz="1400" dirty="0">
                <a:solidFill>
                  <a:srgbClr val="2B2B2B"/>
                </a:solidFill>
                <a:latin typeface="Calibri"/>
                <a:cs typeface="Calibri"/>
              </a:rPr>
              <a:t>based</a:t>
            </a:r>
            <a:r>
              <a:rPr sz="1400" spc="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B2B2B"/>
                </a:solidFill>
                <a:latin typeface="Calibri"/>
                <a:cs typeface="Calibri"/>
              </a:rPr>
              <a:t>real-</a:t>
            </a:r>
            <a:r>
              <a:rPr sz="1400" dirty="0">
                <a:solidFill>
                  <a:srgbClr val="2B2B2B"/>
                </a:solidFill>
                <a:latin typeface="Calibri"/>
                <a:cs typeface="Calibri"/>
              </a:rPr>
              <a:t>time</a:t>
            </a:r>
            <a:r>
              <a:rPr sz="1400" spc="-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B2B2B"/>
                </a:solidFill>
                <a:latin typeface="Calibri"/>
                <a:cs typeface="Calibri"/>
              </a:rPr>
              <a:t>recognition</a:t>
            </a: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664"/>
              </a:spcBef>
              <a:buChar char="•"/>
              <a:tabLst>
                <a:tab pos="354965" algn="l"/>
              </a:tabLst>
            </a:pPr>
            <a:r>
              <a:rPr sz="1400" spc="-20" dirty="0">
                <a:solidFill>
                  <a:srgbClr val="2B2B2B"/>
                </a:solidFill>
                <a:latin typeface="Calibri"/>
                <a:cs typeface="Calibri"/>
              </a:rPr>
              <a:t>Real-</a:t>
            </a:r>
            <a:r>
              <a:rPr sz="1400" dirty="0">
                <a:solidFill>
                  <a:srgbClr val="2B2B2B"/>
                </a:solidFill>
                <a:latin typeface="Calibri"/>
                <a:cs typeface="Calibri"/>
              </a:rPr>
              <a:t>time video </a:t>
            </a:r>
            <a:r>
              <a:rPr sz="1400" spc="-10" dirty="0">
                <a:solidFill>
                  <a:srgbClr val="2B2B2B"/>
                </a:solidFill>
                <a:latin typeface="Calibri"/>
                <a:cs typeface="Calibri"/>
              </a:rPr>
              <a:t>processing</a:t>
            </a: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635"/>
              </a:spcBef>
              <a:buChar char="•"/>
              <a:tabLst>
                <a:tab pos="354965" algn="l"/>
              </a:tabLst>
            </a:pPr>
            <a:r>
              <a:rPr sz="1400" spc="-10" dirty="0">
                <a:solidFill>
                  <a:srgbClr val="2B2B2B"/>
                </a:solidFill>
                <a:latin typeface="Calibri"/>
                <a:cs typeface="Calibri"/>
              </a:rPr>
              <a:t>Name-</a:t>
            </a:r>
            <a:r>
              <a:rPr sz="1400" dirty="0">
                <a:solidFill>
                  <a:srgbClr val="2B2B2B"/>
                </a:solidFill>
                <a:latin typeface="Calibri"/>
                <a:cs typeface="Calibri"/>
              </a:rPr>
              <a:t>based</a:t>
            </a:r>
            <a:r>
              <a:rPr sz="1400" spc="-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B2B2B"/>
                </a:solidFill>
                <a:latin typeface="Calibri"/>
                <a:cs typeface="Calibri"/>
              </a:rPr>
              <a:t>identity</a:t>
            </a:r>
            <a:r>
              <a:rPr sz="1400" spc="-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B2B2B"/>
                </a:solidFill>
                <a:latin typeface="Calibri"/>
                <a:cs typeface="Calibri"/>
              </a:rPr>
              <a:t>mapping</a:t>
            </a: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670"/>
              </a:spcBef>
              <a:buChar char="•"/>
              <a:tabLst>
                <a:tab pos="354965" algn="l"/>
              </a:tabLst>
            </a:pPr>
            <a:r>
              <a:rPr sz="1400" spc="-10" dirty="0">
                <a:solidFill>
                  <a:srgbClr val="2B2B2B"/>
                </a:solidFill>
                <a:latin typeface="Calibri"/>
                <a:cs typeface="Calibri"/>
              </a:rPr>
              <a:t>Graphical</a:t>
            </a:r>
            <a:r>
              <a:rPr sz="1400" spc="-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B2B2B"/>
                </a:solidFill>
                <a:latin typeface="Calibri"/>
                <a:cs typeface="Calibri"/>
              </a:rPr>
              <a:t>user</a:t>
            </a:r>
            <a:r>
              <a:rPr sz="1400" spc="-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B2B2B"/>
                </a:solidFill>
                <a:latin typeface="Calibri"/>
                <a:cs typeface="Calibri"/>
              </a:rPr>
              <a:t>interface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12789" y="1456182"/>
            <a:ext cx="3891915" cy="151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</a:tabLst>
            </a:pPr>
            <a:r>
              <a:rPr sz="1400" spc="-10" dirty="0">
                <a:solidFill>
                  <a:srgbClr val="2B2B2B"/>
                </a:solidFill>
                <a:latin typeface="Calibri"/>
                <a:cs typeface="Calibri"/>
              </a:rPr>
              <a:t>Database</a:t>
            </a:r>
            <a:r>
              <a:rPr sz="1400" spc="-6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B2B2B"/>
                </a:solidFill>
                <a:latin typeface="Calibri"/>
                <a:cs typeface="Calibri"/>
              </a:rPr>
              <a:t>integration</a:t>
            </a:r>
            <a:r>
              <a:rPr sz="1400" spc="-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B2B2B"/>
                </a:solidFill>
                <a:latin typeface="Calibri"/>
                <a:cs typeface="Calibri"/>
              </a:rPr>
              <a:t>&amp;</a:t>
            </a:r>
            <a:r>
              <a:rPr sz="1400" spc="-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B2B2B"/>
                </a:solidFill>
                <a:latin typeface="Calibri"/>
                <a:cs typeface="Calibri"/>
              </a:rPr>
              <a:t>attendance</a:t>
            </a:r>
            <a:r>
              <a:rPr sz="1400" spc="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B2B2B"/>
                </a:solidFill>
                <a:latin typeface="Calibri"/>
                <a:cs typeface="Calibri"/>
              </a:rPr>
              <a:t>management</a:t>
            </a: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664"/>
              </a:spcBef>
              <a:buChar char="•"/>
              <a:tabLst>
                <a:tab pos="354965" algn="l"/>
              </a:tabLst>
            </a:pPr>
            <a:r>
              <a:rPr sz="1400" spc="-10" dirty="0">
                <a:solidFill>
                  <a:srgbClr val="2B2B2B"/>
                </a:solidFill>
                <a:latin typeface="Calibri"/>
                <a:cs typeface="Calibri"/>
              </a:rPr>
              <a:t>Advanced</a:t>
            </a:r>
            <a:r>
              <a:rPr sz="1400" spc="-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B2B2B"/>
                </a:solidFill>
                <a:latin typeface="Calibri"/>
                <a:cs typeface="Calibri"/>
              </a:rPr>
              <a:t>deep-</a:t>
            </a:r>
            <a:r>
              <a:rPr sz="1400" dirty="0">
                <a:solidFill>
                  <a:srgbClr val="2B2B2B"/>
                </a:solidFill>
                <a:latin typeface="Calibri"/>
                <a:cs typeface="Calibri"/>
              </a:rPr>
              <a:t>learning</a:t>
            </a:r>
            <a:r>
              <a:rPr sz="1400" spc="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B2B2B"/>
                </a:solidFill>
                <a:latin typeface="Calibri"/>
                <a:cs typeface="Calibri"/>
              </a:rPr>
              <a:t>face</a:t>
            </a:r>
            <a:r>
              <a:rPr sz="1400" spc="-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B2B2B"/>
                </a:solidFill>
                <a:latin typeface="Calibri"/>
                <a:cs typeface="Calibri"/>
              </a:rPr>
              <a:t>recognition</a:t>
            </a: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635"/>
              </a:spcBef>
              <a:buChar char="•"/>
              <a:tabLst>
                <a:tab pos="354965" algn="l"/>
              </a:tabLst>
            </a:pPr>
            <a:r>
              <a:rPr sz="1400" spc="-10" dirty="0">
                <a:solidFill>
                  <a:srgbClr val="2B2B2B"/>
                </a:solidFill>
                <a:latin typeface="Calibri"/>
                <a:cs typeface="Calibri"/>
              </a:rPr>
              <a:t>Better</a:t>
            </a:r>
            <a:r>
              <a:rPr sz="1400" spc="-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B2B2B"/>
                </a:solidFill>
                <a:latin typeface="Calibri"/>
                <a:cs typeface="Calibri"/>
              </a:rPr>
              <a:t>handling</a:t>
            </a:r>
            <a:r>
              <a:rPr sz="1400" spc="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B2B2B"/>
                </a:solidFill>
                <a:latin typeface="Calibri"/>
                <a:cs typeface="Calibri"/>
              </a:rPr>
              <a:t>of</a:t>
            </a:r>
            <a:r>
              <a:rPr sz="1400" spc="-7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B2B2B"/>
                </a:solidFill>
                <a:latin typeface="Calibri"/>
                <a:cs typeface="Calibri"/>
              </a:rPr>
              <a:t>lighting</a:t>
            </a:r>
            <a:r>
              <a:rPr sz="1400" spc="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sz="1400" spc="-6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B2B2B"/>
                </a:solidFill>
                <a:latin typeface="Calibri"/>
                <a:cs typeface="Calibri"/>
              </a:rPr>
              <a:t>pose</a:t>
            </a:r>
            <a:r>
              <a:rPr sz="1400" spc="-6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B2B2B"/>
                </a:solidFill>
                <a:latin typeface="Calibri"/>
                <a:cs typeface="Calibri"/>
              </a:rPr>
              <a:t>variation</a:t>
            </a: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670"/>
              </a:spcBef>
              <a:buChar char="•"/>
              <a:tabLst>
                <a:tab pos="354965" algn="l"/>
              </a:tabLst>
            </a:pPr>
            <a:r>
              <a:rPr sz="1400" spc="-10" dirty="0">
                <a:solidFill>
                  <a:srgbClr val="2B2B2B"/>
                </a:solidFill>
                <a:latin typeface="Calibri"/>
                <a:cs typeface="Calibri"/>
              </a:rPr>
              <a:t>Deployment </a:t>
            </a:r>
            <a:r>
              <a:rPr sz="1400" dirty="0">
                <a:solidFill>
                  <a:srgbClr val="2B2B2B"/>
                </a:solidFill>
                <a:latin typeface="Calibri"/>
                <a:cs typeface="Calibri"/>
              </a:rPr>
              <a:t>as</a:t>
            </a:r>
            <a:r>
              <a:rPr sz="1400" spc="-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B2B2B"/>
                </a:solidFill>
                <a:latin typeface="Calibri"/>
                <a:cs typeface="Calibri"/>
              </a:rPr>
              <a:t>a</a:t>
            </a:r>
            <a:r>
              <a:rPr sz="1400" spc="-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B2B2B"/>
                </a:solidFill>
                <a:latin typeface="Calibri"/>
                <a:cs typeface="Calibri"/>
              </a:rPr>
              <a:t>web</a:t>
            </a:r>
            <a:r>
              <a:rPr sz="1400" spc="-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B2B2B"/>
                </a:solidFill>
                <a:latin typeface="Calibri"/>
                <a:cs typeface="Calibri"/>
              </a:rPr>
              <a:t>or</a:t>
            </a:r>
            <a:r>
              <a:rPr sz="1400" spc="-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B2B2B"/>
                </a:solidFill>
                <a:latin typeface="Calibri"/>
                <a:cs typeface="Calibri"/>
              </a:rPr>
              <a:t>desktop</a:t>
            </a:r>
            <a:r>
              <a:rPr sz="1400" spc="-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B2B2B"/>
                </a:solidFill>
                <a:latin typeface="Calibri"/>
                <a:cs typeface="Calibri"/>
              </a:rPr>
              <a:t>application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Face</a:t>
            </a:r>
            <a:r>
              <a:rPr spc="-5" dirty="0"/>
              <a:t> </a:t>
            </a:r>
            <a:r>
              <a:rPr spc="-10" dirty="0"/>
              <a:t>Recognition</a:t>
            </a:r>
            <a:r>
              <a:rPr spc="-25" dirty="0"/>
              <a:t> </a:t>
            </a:r>
            <a:r>
              <a:rPr dirty="0"/>
              <a:t>Using</a:t>
            </a:r>
            <a:r>
              <a:rPr spc="15" dirty="0"/>
              <a:t> </a:t>
            </a:r>
            <a:r>
              <a:rPr spc="-10" dirty="0"/>
              <a:t>Python</a:t>
            </a:r>
            <a:r>
              <a:rPr spc="10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10" dirty="0"/>
              <a:t>OpenCV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Expected</a:t>
            </a:r>
            <a:r>
              <a:rPr spc="-120" dirty="0"/>
              <a:t> </a:t>
            </a:r>
            <a:r>
              <a:rPr spc="-10" dirty="0"/>
              <a:t>Outcomes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7684" y="1315790"/>
            <a:ext cx="3319779" cy="206057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700" b="1" spc="-20" dirty="0">
                <a:solidFill>
                  <a:srgbClr val="791F2B"/>
                </a:solidFill>
                <a:latin typeface="Cambria"/>
                <a:cs typeface="Cambria"/>
              </a:rPr>
              <a:t>Technical</a:t>
            </a:r>
            <a:r>
              <a:rPr sz="1700" b="1" spc="-50" dirty="0">
                <a:solidFill>
                  <a:srgbClr val="791F2B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791F2B"/>
                </a:solidFill>
                <a:latin typeface="Cambria"/>
                <a:cs typeface="Cambria"/>
              </a:rPr>
              <a:t>Outcomes</a:t>
            </a:r>
            <a:endParaRPr sz="17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30"/>
              </a:spcBef>
              <a:buChar char="•"/>
              <a:tabLst>
                <a:tab pos="354965" algn="l"/>
              </a:tabLst>
            </a:pP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Read</a:t>
            </a:r>
            <a:r>
              <a:rPr sz="1300" spc="-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1300" spc="-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training</a:t>
            </a:r>
            <a:r>
              <a:rPr sz="1300" spc="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dataset</a:t>
            </a:r>
            <a:r>
              <a:rPr sz="1300" spc="-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&amp;</a:t>
            </a:r>
            <a:r>
              <a:rPr sz="1300" spc="-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detect</a:t>
            </a:r>
            <a:r>
              <a:rPr sz="1300" spc="-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B2B2B"/>
                </a:solidFill>
                <a:latin typeface="Calibri"/>
                <a:cs typeface="Calibri"/>
              </a:rPr>
              <a:t>faces</a:t>
            </a:r>
            <a:endParaRPr sz="13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har char="•"/>
              <a:tabLst>
                <a:tab pos="354965" algn="l"/>
              </a:tabLst>
            </a:pPr>
            <a:r>
              <a:rPr sz="1300" spc="-10" dirty="0">
                <a:solidFill>
                  <a:srgbClr val="2B2B2B"/>
                </a:solidFill>
                <a:latin typeface="Calibri"/>
                <a:cs typeface="Calibri"/>
              </a:rPr>
              <a:t>Generate</a:t>
            </a:r>
            <a:r>
              <a:rPr sz="1300" spc="-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cropped</a:t>
            </a:r>
            <a:r>
              <a:rPr sz="1300" spc="-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face</a:t>
            </a:r>
            <a:r>
              <a:rPr sz="1300" spc="-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images</a:t>
            </a:r>
            <a:r>
              <a:rPr sz="1300" spc="-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sz="1300" spc="-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B2B2B"/>
                </a:solidFill>
                <a:latin typeface="Calibri"/>
                <a:cs typeface="Calibri"/>
              </a:rPr>
              <a:t>labels</a:t>
            </a:r>
            <a:endParaRPr sz="13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har char="•"/>
              <a:tabLst>
                <a:tab pos="354965" algn="l"/>
              </a:tabLst>
            </a:pPr>
            <a:r>
              <a:rPr sz="1300" spc="-20" dirty="0">
                <a:solidFill>
                  <a:srgbClr val="2B2B2B"/>
                </a:solidFill>
                <a:latin typeface="Calibri"/>
                <a:cs typeface="Calibri"/>
              </a:rPr>
              <a:t>Train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an</a:t>
            </a:r>
            <a:r>
              <a:rPr sz="1300" spc="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LBPH</a:t>
            </a:r>
            <a:r>
              <a:rPr sz="1300" spc="-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B2B2B"/>
                </a:solidFill>
                <a:latin typeface="Calibri"/>
                <a:cs typeface="Calibri"/>
              </a:rPr>
              <a:t>recognition</a:t>
            </a:r>
            <a:r>
              <a:rPr sz="1300" spc="-20" dirty="0">
                <a:solidFill>
                  <a:srgbClr val="2B2B2B"/>
                </a:solidFill>
                <a:latin typeface="Calibri"/>
                <a:cs typeface="Calibri"/>
              </a:rPr>
              <a:t> model</a:t>
            </a:r>
            <a:endParaRPr sz="13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15"/>
              </a:spcBef>
              <a:buChar char="•"/>
              <a:tabLst>
                <a:tab pos="354965" algn="l"/>
              </a:tabLst>
            </a:pP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Detect</a:t>
            </a:r>
            <a:r>
              <a:rPr sz="1300" spc="-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faces</a:t>
            </a:r>
            <a:r>
              <a:rPr sz="1300" spc="-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in</a:t>
            </a:r>
            <a:r>
              <a:rPr sz="1300" spc="-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1300" spc="-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test</a:t>
            </a:r>
            <a:r>
              <a:rPr sz="1300" spc="-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B2B2B"/>
                </a:solidFill>
                <a:latin typeface="Calibri"/>
                <a:cs typeface="Calibri"/>
              </a:rPr>
              <a:t>image</a:t>
            </a:r>
            <a:endParaRPr sz="13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har char="•"/>
              <a:tabLst>
                <a:tab pos="354965" algn="l"/>
              </a:tabLst>
            </a:pP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Predict</a:t>
            </a:r>
            <a:r>
              <a:rPr sz="1300" spc="-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1300" spc="-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identity</a:t>
            </a:r>
            <a:r>
              <a:rPr sz="1300" spc="-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label</a:t>
            </a:r>
            <a:r>
              <a:rPr sz="1300" spc="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with</a:t>
            </a:r>
            <a:r>
              <a:rPr sz="1300" spc="-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bounding</a:t>
            </a:r>
            <a:r>
              <a:rPr sz="1300" spc="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B2B2B"/>
                </a:solidFill>
                <a:latin typeface="Calibri"/>
                <a:cs typeface="Calibri"/>
              </a:rPr>
              <a:t>box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12789" y="1315790"/>
            <a:ext cx="3754754" cy="206057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700" b="1" dirty="0">
                <a:solidFill>
                  <a:srgbClr val="791F2B"/>
                </a:solidFill>
                <a:latin typeface="Cambria"/>
                <a:cs typeface="Cambria"/>
              </a:rPr>
              <a:t>Learning</a:t>
            </a:r>
            <a:r>
              <a:rPr sz="1700" b="1" spc="-70" dirty="0">
                <a:solidFill>
                  <a:srgbClr val="791F2B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791F2B"/>
                </a:solidFill>
                <a:latin typeface="Cambria"/>
                <a:cs typeface="Cambria"/>
              </a:rPr>
              <a:t>Outcomes</a:t>
            </a:r>
            <a:endParaRPr sz="17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30"/>
              </a:spcBef>
              <a:buChar char="•"/>
              <a:tabLst>
                <a:tab pos="354965" algn="l"/>
              </a:tabLst>
            </a:pP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Python</a:t>
            </a:r>
            <a:r>
              <a:rPr sz="1300" spc="-10" dirty="0">
                <a:solidFill>
                  <a:srgbClr val="2B2B2B"/>
                </a:solidFill>
                <a:latin typeface="Calibri"/>
                <a:cs typeface="Calibri"/>
              </a:rPr>
              <a:t> programming</a:t>
            </a:r>
            <a:r>
              <a:rPr sz="1300" spc="-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&amp;</a:t>
            </a:r>
            <a:r>
              <a:rPr sz="1300" spc="-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computer</a:t>
            </a:r>
            <a:r>
              <a:rPr sz="1300" spc="-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B2B2B"/>
                </a:solidFill>
                <a:latin typeface="Calibri"/>
                <a:cs typeface="Calibri"/>
              </a:rPr>
              <a:t>vision</a:t>
            </a:r>
            <a:endParaRPr sz="13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har char="•"/>
              <a:tabLst>
                <a:tab pos="354965" algn="l"/>
              </a:tabLst>
            </a:pP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Haar</a:t>
            </a:r>
            <a:r>
              <a:rPr sz="1300" spc="-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Cascade</a:t>
            </a:r>
            <a:r>
              <a:rPr sz="1300" spc="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B2B2B"/>
                </a:solidFill>
                <a:latin typeface="Calibri"/>
                <a:cs typeface="Calibri"/>
              </a:rPr>
              <a:t>classifiers</a:t>
            </a:r>
            <a:r>
              <a:rPr sz="1300" spc="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&amp;</a:t>
            </a:r>
            <a:r>
              <a:rPr sz="1300" spc="-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LBPH</a:t>
            </a:r>
            <a:r>
              <a:rPr sz="1300" spc="-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B2B2B"/>
                </a:solidFill>
                <a:latin typeface="Calibri"/>
                <a:cs typeface="Calibri"/>
              </a:rPr>
              <a:t>recognition</a:t>
            </a:r>
            <a:endParaRPr sz="13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har char="•"/>
              <a:tabLst>
                <a:tab pos="354965" algn="l"/>
              </a:tabLst>
            </a:pP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Image</a:t>
            </a:r>
            <a:r>
              <a:rPr sz="1300" spc="-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B2B2B"/>
                </a:solidFill>
                <a:latin typeface="Calibri"/>
                <a:cs typeface="Calibri"/>
              </a:rPr>
              <a:t>preprocessing</a:t>
            </a:r>
            <a:r>
              <a:rPr sz="1300" spc="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with</a:t>
            </a:r>
            <a:r>
              <a:rPr sz="1300" spc="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B2B2B"/>
                </a:solidFill>
                <a:latin typeface="Calibri"/>
                <a:cs typeface="Calibri"/>
              </a:rPr>
              <a:t>OpenCV</a:t>
            </a:r>
            <a:endParaRPr sz="13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15"/>
              </a:spcBef>
              <a:buChar char="•"/>
              <a:tabLst>
                <a:tab pos="354965" algn="l"/>
              </a:tabLst>
            </a:pPr>
            <a:r>
              <a:rPr sz="1300" spc="-10" dirty="0">
                <a:solidFill>
                  <a:srgbClr val="2B2B2B"/>
                </a:solidFill>
                <a:latin typeface="Calibri"/>
                <a:cs typeface="Calibri"/>
              </a:rPr>
              <a:t>CSV-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based</a:t>
            </a:r>
            <a:r>
              <a:rPr sz="1300" spc="-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data</a:t>
            </a:r>
            <a:r>
              <a:rPr sz="1300" spc="-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handling</a:t>
            </a:r>
            <a:r>
              <a:rPr sz="1300" spc="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with</a:t>
            </a:r>
            <a:r>
              <a:rPr sz="1300" spc="-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B2B2B"/>
                </a:solidFill>
                <a:latin typeface="Calibri"/>
                <a:cs typeface="Calibri"/>
              </a:rPr>
              <a:t>Pandas</a:t>
            </a:r>
            <a:endParaRPr sz="13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har char="•"/>
              <a:tabLst>
                <a:tab pos="354965" algn="l"/>
              </a:tabLst>
            </a:pP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Exception</a:t>
            </a:r>
            <a:r>
              <a:rPr sz="1300" spc="-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handling</a:t>
            </a:r>
            <a:r>
              <a:rPr sz="1300" spc="-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&amp;</a:t>
            </a:r>
            <a:r>
              <a:rPr sz="1300" spc="-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GitHub</a:t>
            </a:r>
            <a:r>
              <a:rPr sz="1300" spc="-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B2B2B"/>
                </a:solidFill>
                <a:latin typeface="Calibri"/>
                <a:cs typeface="Calibri"/>
              </a:rPr>
              <a:t>project</a:t>
            </a:r>
            <a:r>
              <a:rPr sz="1300" spc="-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B2B2B"/>
                </a:solidFill>
                <a:latin typeface="Calibri"/>
                <a:cs typeface="Calibri"/>
              </a:rPr>
              <a:t>management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7684" y="1593400"/>
            <a:ext cx="10723245" cy="59245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500" dirty="0">
                <a:solidFill>
                  <a:srgbClr val="2B2B2B"/>
                </a:solidFill>
                <a:latin typeface="Calibri"/>
                <a:cs typeface="Calibri"/>
              </a:rPr>
              <a:t>This</a:t>
            </a:r>
            <a:r>
              <a:rPr sz="1500" spc="-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B2B2B"/>
                </a:solidFill>
                <a:latin typeface="Calibri"/>
                <a:cs typeface="Calibri"/>
              </a:rPr>
              <a:t>project</a:t>
            </a:r>
            <a:r>
              <a:rPr sz="1500" spc="-10" dirty="0">
                <a:solidFill>
                  <a:srgbClr val="2B2B2B"/>
                </a:solidFill>
                <a:latin typeface="Calibri"/>
                <a:cs typeface="Calibri"/>
              </a:rPr>
              <a:t> demonstrates</a:t>
            </a:r>
            <a:r>
              <a:rPr sz="1500" spc="-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B2B2B"/>
                </a:solidFill>
                <a:latin typeface="Calibri"/>
                <a:cs typeface="Calibri"/>
              </a:rPr>
              <a:t>how</a:t>
            </a:r>
            <a:r>
              <a:rPr sz="1500" spc="-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B2B2B"/>
                </a:solidFill>
                <a:latin typeface="Calibri"/>
                <a:cs typeface="Calibri"/>
              </a:rPr>
              <a:t>computer</a:t>
            </a:r>
            <a:r>
              <a:rPr sz="1500" spc="-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B2B2B"/>
                </a:solidFill>
                <a:latin typeface="Calibri"/>
                <a:cs typeface="Calibri"/>
              </a:rPr>
              <a:t>vision</a:t>
            </a:r>
            <a:r>
              <a:rPr sz="1500" spc="-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B2B2B"/>
                </a:solidFill>
                <a:latin typeface="Calibri"/>
                <a:cs typeface="Calibri"/>
              </a:rPr>
              <a:t>can</a:t>
            </a:r>
            <a:r>
              <a:rPr sz="1500" spc="-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B2B2B"/>
                </a:solidFill>
                <a:latin typeface="Calibri"/>
                <a:cs typeface="Calibri"/>
              </a:rPr>
              <a:t>reduce manual</a:t>
            </a:r>
            <a:r>
              <a:rPr sz="1500" spc="-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B2B2B"/>
                </a:solidFill>
                <a:latin typeface="Calibri"/>
                <a:cs typeface="Calibri"/>
              </a:rPr>
              <a:t>effort</a:t>
            </a:r>
            <a:r>
              <a:rPr sz="1500" spc="-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B2B2B"/>
                </a:solidFill>
                <a:latin typeface="Calibri"/>
                <a:cs typeface="Calibri"/>
              </a:rPr>
              <a:t>in</a:t>
            </a:r>
            <a:r>
              <a:rPr sz="1500" spc="-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B2B2B"/>
                </a:solidFill>
                <a:latin typeface="Calibri"/>
                <a:cs typeface="Calibri"/>
              </a:rPr>
              <a:t>image-</a:t>
            </a:r>
            <a:r>
              <a:rPr sz="1500" spc="-10" dirty="0">
                <a:solidFill>
                  <a:srgbClr val="2B2B2B"/>
                </a:solidFill>
                <a:latin typeface="Calibri"/>
                <a:cs typeface="Calibri"/>
              </a:rPr>
              <a:t>based</a:t>
            </a:r>
            <a:r>
              <a:rPr sz="1500" spc="-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B2B2B"/>
                </a:solidFill>
                <a:latin typeface="Calibri"/>
                <a:cs typeface="Calibri"/>
              </a:rPr>
              <a:t>identification</a:t>
            </a:r>
            <a:r>
              <a:rPr sz="1500" spc="-114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B2B2B"/>
                </a:solidFill>
                <a:latin typeface="Calibri"/>
                <a:cs typeface="Calibri"/>
              </a:rPr>
              <a:t>tasks,</a:t>
            </a:r>
            <a:r>
              <a:rPr sz="1500" spc="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B2B2B"/>
                </a:solidFill>
                <a:latin typeface="Calibri"/>
                <a:cs typeface="Calibri"/>
              </a:rPr>
              <a:t>using</a:t>
            </a:r>
            <a:r>
              <a:rPr sz="1500" spc="-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B2B2B"/>
                </a:solidFill>
                <a:latin typeface="Calibri"/>
                <a:cs typeface="Calibri"/>
              </a:rPr>
              <a:t>a</a:t>
            </a:r>
            <a:r>
              <a:rPr sz="1500" spc="-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B2B2B"/>
                </a:solidFill>
                <a:latin typeface="Calibri"/>
                <a:cs typeface="Calibri"/>
              </a:rPr>
              <a:t>Haar</a:t>
            </a:r>
            <a:r>
              <a:rPr sz="1500" spc="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B2B2B"/>
                </a:solidFill>
                <a:latin typeface="Calibri"/>
                <a:cs typeface="Calibri"/>
              </a:rPr>
              <a:t>Cascade</a:t>
            </a:r>
            <a:r>
              <a:rPr sz="1500" spc="-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B2B2B"/>
                </a:solidFill>
                <a:latin typeface="Calibri"/>
                <a:cs typeface="Calibri"/>
              </a:rPr>
              <a:t>+</a:t>
            </a:r>
            <a:r>
              <a:rPr sz="1500" spc="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2B2B2B"/>
                </a:solidFill>
                <a:latin typeface="Calibri"/>
                <a:cs typeface="Calibri"/>
              </a:rPr>
              <a:t>LBPH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500" dirty="0">
                <a:solidFill>
                  <a:srgbClr val="2B2B2B"/>
                </a:solidFill>
                <a:latin typeface="Calibri"/>
                <a:cs typeface="Calibri"/>
              </a:rPr>
              <a:t>pipeline</a:t>
            </a:r>
            <a:r>
              <a:rPr sz="1500" spc="-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B2B2B"/>
                </a:solidFill>
                <a:latin typeface="Calibri"/>
                <a:cs typeface="Calibri"/>
              </a:rPr>
              <a:t>to</a:t>
            </a:r>
            <a:r>
              <a:rPr sz="1500" spc="-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B2B2B"/>
                </a:solidFill>
                <a:latin typeface="Calibri"/>
                <a:cs typeface="Calibri"/>
              </a:rPr>
              <a:t>detect</a:t>
            </a:r>
            <a:r>
              <a:rPr sz="1500" spc="-9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sz="1500" spc="-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B2B2B"/>
                </a:solidFill>
                <a:latin typeface="Calibri"/>
                <a:cs typeface="Calibri"/>
              </a:rPr>
              <a:t>recognize</a:t>
            </a:r>
            <a:r>
              <a:rPr sz="1500" spc="-8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B2B2B"/>
                </a:solidFill>
                <a:latin typeface="Calibri"/>
                <a:cs typeface="Calibri"/>
              </a:rPr>
              <a:t>faces</a:t>
            </a:r>
            <a:r>
              <a:rPr sz="1500" spc="-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B2B2B"/>
                </a:solidFill>
                <a:latin typeface="Calibri"/>
                <a:cs typeface="Calibri"/>
              </a:rPr>
              <a:t>from</a:t>
            </a:r>
            <a:r>
              <a:rPr sz="1500" spc="-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B2B2B"/>
                </a:solidFill>
                <a:latin typeface="Calibri"/>
                <a:cs typeface="Calibri"/>
              </a:rPr>
              <a:t>a</a:t>
            </a:r>
            <a:r>
              <a:rPr sz="1500" spc="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B2B2B"/>
                </a:solidFill>
                <a:latin typeface="Calibri"/>
                <a:cs typeface="Calibri"/>
              </a:rPr>
              <a:t>trained</a:t>
            </a:r>
            <a:r>
              <a:rPr sz="1500" spc="-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B2B2B"/>
                </a:solidFill>
                <a:latin typeface="Calibri"/>
                <a:cs typeface="Calibri"/>
              </a:rPr>
              <a:t>dataset.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7684" y="2766523"/>
            <a:ext cx="10864850" cy="537210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9"/>
              </a:spcBef>
            </a:pPr>
            <a:r>
              <a:rPr sz="1350" dirty="0">
                <a:solidFill>
                  <a:srgbClr val="6B6B6B"/>
                </a:solidFill>
                <a:latin typeface="Calibri"/>
                <a:cs typeface="Calibri"/>
              </a:rPr>
              <a:t>It</a:t>
            </a:r>
            <a:r>
              <a:rPr sz="1350" spc="-3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6B6B6B"/>
                </a:solidFill>
                <a:latin typeface="Calibri"/>
                <a:cs typeface="Calibri"/>
              </a:rPr>
              <a:t>provides</a:t>
            </a:r>
            <a:r>
              <a:rPr sz="1350" spc="-3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6B6B"/>
                </a:solidFill>
                <a:latin typeface="Calibri"/>
                <a:cs typeface="Calibri"/>
              </a:rPr>
              <a:t>a</a:t>
            </a:r>
            <a:r>
              <a:rPr sz="1350" spc="4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6B6B6B"/>
                </a:solidFill>
                <a:latin typeface="Calibri"/>
                <a:cs typeface="Calibri"/>
              </a:rPr>
              <a:t>foundation</a:t>
            </a:r>
            <a:r>
              <a:rPr sz="1350" spc="-114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6B6B"/>
                </a:solidFill>
                <a:latin typeface="Calibri"/>
                <a:cs typeface="Calibri"/>
              </a:rPr>
              <a:t>for</a:t>
            </a:r>
            <a:r>
              <a:rPr sz="1350" spc="-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6B6B"/>
                </a:solidFill>
                <a:latin typeface="Calibri"/>
                <a:cs typeface="Calibri"/>
              </a:rPr>
              <a:t>more</a:t>
            </a:r>
            <a:r>
              <a:rPr sz="1350" spc="1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6B6B6B"/>
                </a:solidFill>
                <a:latin typeface="Calibri"/>
                <a:cs typeface="Calibri"/>
              </a:rPr>
              <a:t>advanced</a:t>
            </a:r>
            <a:r>
              <a:rPr sz="1350" spc="1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6B6B"/>
                </a:solidFill>
                <a:latin typeface="Calibri"/>
                <a:cs typeface="Calibri"/>
              </a:rPr>
              <a:t>applications</a:t>
            </a:r>
            <a:r>
              <a:rPr sz="1350" spc="-11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6B6B"/>
                </a:solidFill>
                <a:latin typeface="Calibri"/>
                <a:cs typeface="Calibri"/>
              </a:rPr>
              <a:t>such</a:t>
            </a:r>
            <a:r>
              <a:rPr sz="1350" spc="-3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6B6B"/>
                </a:solidFill>
                <a:latin typeface="Calibri"/>
                <a:cs typeface="Calibri"/>
              </a:rPr>
              <a:t>as</a:t>
            </a:r>
            <a:r>
              <a:rPr sz="1350" spc="1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6B6B6B"/>
                </a:solidFill>
                <a:latin typeface="Calibri"/>
                <a:cs typeface="Calibri"/>
              </a:rPr>
              <a:t>attendance</a:t>
            </a:r>
            <a:r>
              <a:rPr sz="1350" spc="-7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6B6B6B"/>
                </a:solidFill>
                <a:latin typeface="Calibri"/>
                <a:cs typeface="Calibri"/>
              </a:rPr>
              <a:t>systems,</a:t>
            </a:r>
            <a:r>
              <a:rPr sz="1350" spc="-9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6B6B"/>
                </a:solidFill>
                <a:latin typeface="Calibri"/>
                <a:cs typeface="Calibri"/>
              </a:rPr>
              <a:t>identity</a:t>
            </a:r>
            <a:r>
              <a:rPr sz="1350" spc="-8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6B6B6B"/>
                </a:solidFill>
                <a:latin typeface="Calibri"/>
                <a:cs typeface="Calibri"/>
              </a:rPr>
              <a:t>verification,</a:t>
            </a:r>
            <a:r>
              <a:rPr sz="1350" spc="-9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6B6B"/>
                </a:solidFill>
                <a:latin typeface="Calibri"/>
                <a:cs typeface="Calibri"/>
              </a:rPr>
              <a:t>and</a:t>
            </a:r>
            <a:r>
              <a:rPr sz="1350" spc="1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6B6B"/>
                </a:solidFill>
                <a:latin typeface="Calibri"/>
                <a:cs typeface="Calibri"/>
              </a:rPr>
              <a:t>real-time</a:t>
            </a:r>
            <a:r>
              <a:rPr sz="1350" spc="-7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6B6B"/>
                </a:solidFill>
                <a:latin typeface="Calibri"/>
                <a:cs typeface="Calibri"/>
              </a:rPr>
              <a:t>face</a:t>
            </a:r>
            <a:r>
              <a:rPr sz="1350" spc="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6B6B"/>
                </a:solidFill>
                <a:latin typeface="Calibri"/>
                <a:cs typeface="Calibri"/>
              </a:rPr>
              <a:t>recognition</a:t>
            </a:r>
            <a:r>
              <a:rPr sz="1350" spc="-11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6B6B"/>
                </a:solidFill>
                <a:latin typeface="Calibri"/>
                <a:cs typeface="Calibri"/>
              </a:rPr>
              <a:t>—</a:t>
            </a:r>
            <a:r>
              <a:rPr sz="1350" spc="-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6B6B"/>
                </a:solidFill>
                <a:latin typeface="Calibri"/>
                <a:cs typeface="Calibri"/>
              </a:rPr>
              <a:t>while,</a:t>
            </a:r>
            <a:r>
              <a:rPr sz="1350" spc="-5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6B6B"/>
                </a:solidFill>
                <a:latin typeface="Calibri"/>
                <a:cs typeface="Calibri"/>
              </a:rPr>
              <a:t>as</a:t>
            </a:r>
            <a:r>
              <a:rPr sz="1350" spc="1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6B6B"/>
                </a:solidFill>
                <a:latin typeface="Calibri"/>
                <a:cs typeface="Calibri"/>
              </a:rPr>
              <a:t>a</a:t>
            </a:r>
            <a:r>
              <a:rPr sz="1350" spc="4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6B6B6B"/>
                </a:solidFill>
                <a:latin typeface="Calibri"/>
                <a:cs typeface="Calibri"/>
              </a:rPr>
              <a:t>basic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350" dirty="0">
                <a:solidFill>
                  <a:srgbClr val="6B6B6B"/>
                </a:solidFill>
                <a:latin typeface="Calibri"/>
                <a:cs typeface="Calibri"/>
              </a:rPr>
              <a:t>educational</a:t>
            </a:r>
            <a:r>
              <a:rPr sz="1350" spc="-5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6B6B6B"/>
                </a:solidFill>
                <a:latin typeface="Calibri"/>
                <a:cs typeface="Calibri"/>
              </a:rPr>
              <a:t>implementation,</a:t>
            </a:r>
            <a:r>
              <a:rPr sz="1350" spc="-8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6B6B"/>
                </a:solidFill>
                <a:latin typeface="Calibri"/>
                <a:cs typeface="Calibri"/>
              </a:rPr>
              <a:t>it</a:t>
            </a:r>
            <a:r>
              <a:rPr sz="1350" spc="-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6B6B"/>
                </a:solidFill>
                <a:latin typeface="Calibri"/>
                <a:cs typeface="Calibri"/>
              </a:rPr>
              <a:t>is</a:t>
            </a:r>
            <a:r>
              <a:rPr sz="1350" spc="3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6B6B"/>
                </a:solidFill>
                <a:latin typeface="Calibri"/>
                <a:cs typeface="Calibri"/>
              </a:rPr>
              <a:t>not</a:t>
            </a:r>
            <a:r>
              <a:rPr sz="1350" spc="-1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6B6B"/>
                </a:solidFill>
                <a:latin typeface="Calibri"/>
                <a:cs typeface="Calibri"/>
              </a:rPr>
              <a:t>intended</a:t>
            </a:r>
            <a:r>
              <a:rPr sz="1350" spc="-5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6B6B"/>
                </a:solidFill>
                <a:latin typeface="Calibri"/>
                <a:cs typeface="Calibri"/>
              </a:rPr>
              <a:t>as</a:t>
            </a:r>
            <a:r>
              <a:rPr sz="1350" spc="3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6B6B"/>
                </a:solidFill>
                <a:latin typeface="Calibri"/>
                <a:cs typeface="Calibri"/>
              </a:rPr>
              <a:t>a</a:t>
            </a:r>
            <a:r>
              <a:rPr sz="1350" spc="1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6B6B"/>
                </a:solidFill>
                <a:latin typeface="Calibri"/>
                <a:cs typeface="Calibri"/>
              </a:rPr>
              <a:t>high-security</a:t>
            </a:r>
            <a:r>
              <a:rPr sz="1350" spc="-11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6B6B"/>
                </a:solidFill>
                <a:latin typeface="Calibri"/>
                <a:cs typeface="Calibri"/>
              </a:rPr>
              <a:t>biometric</a:t>
            </a:r>
            <a:r>
              <a:rPr sz="1350" spc="-2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6B6B"/>
                </a:solidFill>
                <a:latin typeface="Calibri"/>
                <a:cs typeface="Calibri"/>
              </a:rPr>
              <a:t>solution</a:t>
            </a:r>
            <a:r>
              <a:rPr sz="1350" spc="-10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6B6B"/>
                </a:solidFill>
                <a:latin typeface="Calibri"/>
                <a:cs typeface="Calibri"/>
              </a:rPr>
              <a:t>without</a:t>
            </a:r>
            <a:r>
              <a:rPr sz="1350" spc="-1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6B6B"/>
                </a:solidFill>
                <a:latin typeface="Calibri"/>
                <a:cs typeface="Calibri"/>
              </a:rPr>
              <a:t>further</a:t>
            </a:r>
            <a:r>
              <a:rPr sz="1350" spc="-2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6B6B6B"/>
                </a:solidFill>
                <a:latin typeface="Calibri"/>
                <a:cs typeface="Calibri"/>
              </a:rPr>
              <a:t>validation</a:t>
            </a:r>
            <a:r>
              <a:rPr sz="1350" spc="-6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6B6B"/>
                </a:solidFill>
                <a:latin typeface="Calibri"/>
                <a:cs typeface="Calibri"/>
              </a:rPr>
              <a:t>and</a:t>
            </a:r>
            <a:r>
              <a:rPr sz="1350" spc="2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6B6B"/>
                </a:solidFill>
                <a:latin typeface="Calibri"/>
                <a:cs typeface="Calibri"/>
              </a:rPr>
              <a:t>stronger</a:t>
            </a:r>
            <a:r>
              <a:rPr sz="1350" spc="-2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6B6B"/>
                </a:solidFill>
                <a:latin typeface="Calibri"/>
                <a:cs typeface="Calibri"/>
              </a:rPr>
              <a:t>recognition</a:t>
            </a:r>
            <a:r>
              <a:rPr sz="1350" spc="-10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6B6B6B"/>
                </a:solidFill>
                <a:latin typeface="Calibri"/>
                <a:cs typeface="Calibri"/>
              </a:rPr>
              <a:t>methods.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90921" y="4208526"/>
            <a:ext cx="2011680" cy="0"/>
          </a:xfrm>
          <a:custGeom>
            <a:avLst/>
            <a:gdLst/>
            <a:ahLst/>
            <a:cxnLst/>
            <a:rect l="l" t="t" r="r" b="b"/>
            <a:pathLst>
              <a:path w="2011679">
                <a:moveTo>
                  <a:pt x="0" y="0"/>
                </a:moveTo>
                <a:lnTo>
                  <a:pt x="2011679" y="0"/>
                </a:lnTo>
              </a:path>
            </a:pathLst>
          </a:custGeom>
          <a:ln w="13716">
            <a:solidFill>
              <a:srgbClr val="791F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267200" y="4498289"/>
            <a:ext cx="3886199" cy="86562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3000" b="1" dirty="0">
                <a:solidFill>
                  <a:srgbClr val="1E2760"/>
                </a:solidFill>
                <a:latin typeface="Cambria"/>
                <a:cs typeface="Cambria"/>
              </a:rPr>
              <a:t>Thank</a:t>
            </a:r>
            <a:r>
              <a:rPr sz="3000" b="1" spc="-85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3000" b="1" spc="-25" dirty="0">
                <a:solidFill>
                  <a:srgbClr val="1E2760"/>
                </a:solidFill>
                <a:latin typeface="Cambria"/>
                <a:cs typeface="Cambria"/>
              </a:rPr>
              <a:t>You</a:t>
            </a:r>
            <a:endParaRPr sz="3000" dirty="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460"/>
              </a:spcBef>
            </a:pPr>
            <a:r>
              <a:rPr lang="en-US" sz="1300" dirty="0">
                <a:solidFill>
                  <a:srgbClr val="6B6B6B"/>
                </a:solidFill>
                <a:latin typeface="Calibri"/>
                <a:cs typeface="Calibri"/>
              </a:rPr>
              <a:t>Devanshi jain </a:t>
            </a:r>
            <a:r>
              <a:rPr sz="1300" dirty="0">
                <a:solidFill>
                  <a:srgbClr val="6B6B6B"/>
                </a:solidFill>
                <a:latin typeface="Calibri"/>
                <a:cs typeface="Calibri"/>
              </a:rPr>
              <a:t>|</a:t>
            </a:r>
            <a:r>
              <a:rPr sz="1300" spc="23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lang="en-US" sz="1300" spc="235" dirty="0">
                <a:solidFill>
                  <a:srgbClr val="6B6B6B"/>
                </a:solidFill>
                <a:latin typeface="Calibri"/>
                <a:cs typeface="Calibri"/>
              </a:rPr>
              <a:t>2410030209</a:t>
            </a:r>
            <a:r>
              <a:rPr sz="1300" dirty="0">
                <a:solidFill>
                  <a:srgbClr val="6B6B6B"/>
                </a:solidFill>
                <a:latin typeface="Calibri"/>
                <a:cs typeface="Calibri"/>
              </a:rPr>
              <a:t>|</a:t>
            </a:r>
            <a:r>
              <a:rPr sz="1300" spc="23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00" spc="-30" dirty="0">
                <a:solidFill>
                  <a:srgbClr val="6B6B6B"/>
                </a:solidFill>
                <a:latin typeface="Calibri"/>
                <a:cs typeface="Calibri"/>
              </a:rPr>
              <a:t>B.Tech</a:t>
            </a:r>
            <a:r>
              <a:rPr sz="1300" spc="-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6B6B6B"/>
                </a:solidFill>
                <a:latin typeface="Calibri"/>
                <a:cs typeface="Calibri"/>
              </a:rPr>
              <a:t>CSE</a:t>
            </a:r>
            <a:endParaRPr sz="13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855</Words>
  <Application>Microsoft Office PowerPoint</Application>
  <PresentationFormat>Widescreen</PresentationFormat>
  <Paragraphs>196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Cambria</vt:lpstr>
      <vt:lpstr>Times New Roman</vt:lpstr>
      <vt:lpstr>Office Theme</vt:lpstr>
      <vt:lpstr>IILM UNIVERSITY Greater Noida, Uttar Pradesh</vt:lpstr>
      <vt:lpstr>Internship Overview</vt:lpstr>
      <vt:lpstr>Project Overview</vt:lpstr>
      <vt:lpstr>Problem Statement</vt:lpstr>
      <vt:lpstr>Project Objectives</vt:lpstr>
      <vt:lpstr>Technologies &amp; Tools Used</vt:lpstr>
      <vt:lpstr>System Architecture</vt:lpstr>
      <vt:lpstr>Methodology</vt:lpstr>
      <vt:lpstr>Scope &amp; Limitations</vt:lpstr>
      <vt:lpstr>Future Scope</vt:lpstr>
      <vt:lpstr>Expected Outcomes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devanshi jain</dc:creator>
  <cp:lastModifiedBy>devanshi jain</cp:lastModifiedBy>
  <cp:revision>1</cp:revision>
  <dcterms:created xsi:type="dcterms:W3CDTF">2026-09-10T16:22:31Z</dcterms:created>
  <dcterms:modified xsi:type="dcterms:W3CDTF">2026-09-10T16:25:15Z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2026-08-29T00:00:00Z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2026-09-10T00:00:00Z</vt:filetime>
  </property>
  <property fmtid="{D5CDD505-2E9C-101B-9397-08002B2CF9AE}" pid="6" name="Producer">
    <vt:lpwstr>www.ilovepdf.com</vt:lpwstr>
  </property>
</Properties>
</file>